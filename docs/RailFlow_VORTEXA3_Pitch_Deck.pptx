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4" r:id="rId16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Heading Now 31-38 Bold" charset="1" panose="00000000000000000000"/>
      <p:regular r:id="rId14"/>
    </p:embeddedFont>
    <p:embeddedFont>
      <p:font typeface="Heading Now 31-38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72243"/>
                </a:solidFill>
                <a:latin typeface="Calibri"/>
              </a:rPr>
              <a:t>Weighted delay  (−17%)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delay  (−17%)</c:v>
                </c:pt>
              </c:strCache>
            </c:strRef>
          </c:tx>
          <c:dPt>
            <c:idx val="0"/>
            <c:spPr>
              <a:solidFill>
                <a:srgbClr val="B9B4CC"/>
              </a:solidFill>
            </c:spPr>
          </c:dPt>
          <c:dPt>
            <c:idx val="1"/>
            <c:spPr>
              <a:solidFill>
                <a:srgbClr val="323F9D"/>
              </a:solidFill>
            </c:spPr>
          </c:dPt>
          <c:cat>
            <c:strRef>
              <c:f>Sheet1!$A$2:$A$3</c:f>
              <c:strCache>
                <c:ptCount val="2"/>
                <c:pt idx="0">
                  <c:v>Greedy</c:v>
                </c:pt>
                <c:pt idx="1">
                  <c:v>RailFlow 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1847</c:v>
                </c:pt>
                <c:pt idx="1">
                  <c:v>1526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>
                  <a:solidFill>
                    <a:srgbClr val="17224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6E3"/>
            </a:solidFill>
          </a:ln>
        </c:spPr>
        <c:txPr>
          <a:bodyPr/>
          <a:lstStyle/>
          <a:p>
            <a:pPr>
              <a:defRPr sz="1300">
                <a:solidFill>
                  <a:srgbClr val="5B627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72243"/>
                </a:solidFill>
                <a:latin typeface="Calibri"/>
              </a:rPr>
              <a:t>Platform changes  (−73%)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Platform changes  (−73%)</c:v>
                </c:pt>
              </c:strCache>
            </c:strRef>
          </c:tx>
          <c:dPt>
            <c:idx val="0"/>
            <c:spPr>
              <a:solidFill>
                <a:srgbClr val="B9B4CC"/>
              </a:solidFill>
            </c:spPr>
          </c:dPt>
          <c:dPt>
            <c:idx val="1"/>
            <c:spPr>
              <a:solidFill>
                <a:srgbClr val="ED8076"/>
              </a:solidFill>
            </c:spPr>
          </c:dPt>
          <c:cat>
            <c:strRef>
              <c:f>Sheet1!$A$2:$A$3</c:f>
              <c:strCache>
                <c:ptCount val="2"/>
                <c:pt idx="0">
                  <c:v>Greedy</c:v>
                </c:pt>
                <c:pt idx="1">
                  <c:v>RailFlow 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</c:v>
                </c:pt>
                <c:pt idx="1">
                  <c:v>25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>
                  <a:solidFill>
                    <a:srgbClr val="17224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6E3"/>
            </a:solidFill>
          </a:ln>
        </c:spPr>
        <c:txPr>
          <a:bodyPr/>
          <a:lstStyle/>
          <a:p>
            <a:pPr>
              <a:defRPr sz="1300">
                <a:solidFill>
                  <a:srgbClr val="5B627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2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2.png"/><Relationship Id="rId10" Type="http://schemas.openxmlformats.org/officeDocument/2006/relationships/image" Target="../media/image2.png"/><Relationship Id="rId11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2.png"/><Relationship Id="rId10" Type="http://schemas.openxmlformats.org/officeDocument/2006/relationships/image" Target="../media/image2.png"/><Relationship Id="rId11" Type="http://schemas.openxmlformats.org/officeDocument/2006/relationships/image" Target="../media/image9.png"/><Relationship Id="rId12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2.png"/><Relationship Id="rId10" Type="http://schemas.openxmlformats.org/officeDocument/2006/relationships/image" Target="../media/image9.png"/><Relationship Id="rId11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2.png"/><Relationship Id="rId10" Type="http://schemas.openxmlformats.org/officeDocument/2006/relationships/image" Target="../media/image9.png"/><Relationship Id="rId11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2.png"/><Relationship Id="rId10" Type="http://schemas.openxmlformats.org/officeDocument/2006/relationships/image" Target="../media/image9.png"/><Relationship Id="rId11" Type="http://schemas.openxmlformats.org/officeDocument/2006/relationships/image" Target="../media/image2.png"/><Relationship Id="rId12" Type="http://schemas.openxmlformats.org/officeDocument/2006/relationships/chart" Target="../charts/chart1.xml"/><Relationship Id="rId1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2.png"/><Relationship Id="rId10" Type="http://schemas.openxmlformats.org/officeDocument/2006/relationships/image" Target="../media/image9.png"/><Relationship Id="rId11" Type="http://schemas.openxmlformats.org/officeDocument/2006/relationships/image" Target="../media/image2.png"/><Relationship Id="rId12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2.png"/><Relationship Id="rId10" Type="http://schemas.openxmlformats.org/officeDocument/2006/relationships/image" Target="../media/image9.png"/><Relationship Id="rId11" Type="http://schemas.openxmlformats.org/officeDocument/2006/relationships/image" Target="../media/image2.png"/><Relationship Id="rId12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8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6893" y="4930326"/>
            <a:ext cx="1790743" cy="1009954"/>
          </a:xfrm>
          <a:custGeom>
            <a:avLst/>
            <a:gdLst/>
            <a:ahLst/>
            <a:cxnLst/>
            <a:rect r="r" b="b" t="t" l="l"/>
            <a:pathLst>
              <a:path h="1009954" w="1790743">
                <a:moveTo>
                  <a:pt x="0" y="0"/>
                </a:moveTo>
                <a:lnTo>
                  <a:pt x="1790744" y="0"/>
                </a:lnTo>
                <a:lnTo>
                  <a:pt x="1790744" y="1009954"/>
                </a:lnTo>
                <a:lnTo>
                  <a:pt x="0" y="1009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27273" y="239946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7" y="0"/>
                </a:lnTo>
                <a:lnTo>
                  <a:pt x="2160727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57200" y="2103120"/>
            <a:ext cx="5496285" cy="239623"/>
          </a:xfrm>
          <a:custGeom>
            <a:avLst/>
            <a:gdLst/>
            <a:ahLst/>
            <a:cxnLst/>
            <a:rect r="r" b="b" t="t" l="l"/>
            <a:pathLst>
              <a:path h="239623" w="5496285">
                <a:moveTo>
                  <a:pt x="0" y="0"/>
                </a:moveTo>
                <a:lnTo>
                  <a:pt x="5496285" y="0"/>
                </a:lnTo>
                <a:lnTo>
                  <a:pt x="5496285" y="239623"/>
                </a:lnTo>
                <a:lnTo>
                  <a:pt x="0" y="239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0" y="-303755"/>
            <a:ext cx="1750048" cy="10607152"/>
          </a:xfrm>
          <a:custGeom>
            <a:avLst/>
            <a:gdLst/>
            <a:ahLst/>
            <a:cxnLst/>
            <a:rect r="r" b="b" t="t" l="l"/>
            <a:pathLst>
              <a:path h="10607152" w="1750048">
                <a:moveTo>
                  <a:pt x="0" y="0"/>
                </a:moveTo>
                <a:lnTo>
                  <a:pt x="1750048" y="0"/>
                </a:lnTo>
                <a:lnTo>
                  <a:pt x="1750048" y="10607153"/>
                </a:lnTo>
                <a:lnTo>
                  <a:pt x="0" y="106071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85" t="0" r="-3785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361330" y="6635716"/>
            <a:ext cx="1750048" cy="1727254"/>
          </a:xfrm>
          <a:custGeom>
            <a:avLst/>
            <a:gdLst/>
            <a:ahLst/>
            <a:cxnLst/>
            <a:rect r="r" b="b" t="t" l="l"/>
            <a:pathLst>
              <a:path h="1727254" w="1750048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739803" y="7046873"/>
            <a:ext cx="5548197" cy="3256525"/>
          </a:xfrm>
          <a:custGeom>
            <a:avLst/>
            <a:gdLst/>
            <a:ahLst/>
            <a:cxnLst/>
            <a:rect r="r" b="b" t="t" l="l"/>
            <a:pathLst>
              <a:path h="3256525" w="5548197">
                <a:moveTo>
                  <a:pt x="0" y="0"/>
                </a:moveTo>
                <a:lnTo>
                  <a:pt x="5548197" y="0"/>
                </a:lnTo>
                <a:lnTo>
                  <a:pt x="5548197" y="3256525"/>
                </a:lnTo>
                <a:lnTo>
                  <a:pt x="0" y="3256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9154" r="0" b="-3059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975464" y="5455062"/>
            <a:ext cx="1312536" cy="4088563"/>
          </a:xfrm>
          <a:custGeom>
            <a:avLst/>
            <a:gdLst/>
            <a:ahLst/>
            <a:cxnLst/>
            <a:rect r="r" b="b" t="t" l="l"/>
            <a:pathLst>
              <a:path h="4088563" w="1312536">
                <a:moveTo>
                  <a:pt x="0" y="0"/>
                </a:moveTo>
                <a:lnTo>
                  <a:pt x="1312536" y="0"/>
                </a:lnTo>
                <a:lnTo>
                  <a:pt x="131253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706941" y="7046873"/>
            <a:ext cx="1104718" cy="2372241"/>
          </a:xfrm>
          <a:custGeom>
            <a:avLst/>
            <a:gdLst/>
            <a:ahLst/>
            <a:cxnLst/>
            <a:rect r="r" b="b" t="t" l="l"/>
            <a:pathLst>
              <a:path h="2372241" w="1104718">
                <a:moveTo>
                  <a:pt x="0" y="0"/>
                </a:moveTo>
                <a:lnTo>
                  <a:pt x="1104718" y="0"/>
                </a:lnTo>
                <a:lnTo>
                  <a:pt x="110471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727951" y="2550929"/>
            <a:ext cx="3560049" cy="1756785"/>
          </a:xfrm>
          <a:custGeom>
            <a:avLst/>
            <a:gdLst/>
            <a:ahLst/>
            <a:cxnLst/>
            <a:rect r="r" b="b" t="t" l="l"/>
            <a:pathLst>
              <a:path h="1756785" w="3560049">
                <a:moveTo>
                  <a:pt x="0" y="0"/>
                </a:moveTo>
                <a:lnTo>
                  <a:pt x="3560049" y="0"/>
                </a:lnTo>
                <a:lnTo>
                  <a:pt x="3560049" y="1756784"/>
                </a:lnTo>
                <a:lnTo>
                  <a:pt x="0" y="17567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7000"/>
            </a:blip>
            <a:stretch>
              <a:fillRect l="0" t="0" r="0" b="0"/>
            </a:stretch>
          </a:blipFill>
        </p:spPr>
      </p:sp>
      <p:sp>
        <p:nvSpPr>
          <p:cNvPr id="19" name="Wordmark"/>
          <p:cNvSpPr txBox="1"/>
          <p:nvPr/>
        </p:nvSpPr>
        <p:spPr>
          <a:xfrm>
            <a:off x="566928" y="201168"/>
            <a:ext cx="8686800" cy="1965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800" b="1" i="0">
                <a:solidFill>
                  <a:srgbClr val="3C3B56"/>
                </a:solidFill>
                <a:latin typeface="Arial Narrow"/>
              </a:rPr>
              <a:t>VORTEXA </a:t>
            </a:r>
            <a:r>
              <a:rPr sz="12800" b="1" i="0">
                <a:solidFill>
                  <a:srgbClr val="7F5E87"/>
                </a:solidFill>
                <a:latin typeface="Arial Narrow"/>
              </a:rPr>
              <a:t>3.0</a:t>
            </a:r>
          </a:p>
        </p:txBody>
      </p:sp>
      <p:sp>
        <p:nvSpPr>
          <p:cNvPr id="20" name="Event line"/>
          <p:cNvSpPr txBox="1"/>
          <p:nvPr/>
        </p:nvSpPr>
        <p:spPr>
          <a:xfrm>
            <a:off x="640080" y="2450592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3F3F3F"/>
                </a:solidFill>
                <a:latin typeface="Calibri"/>
              </a:rPr>
              <a:t>12-HOUR HACKATHON</a:t>
            </a:r>
            <a:r>
              <a:rPr sz="1500" b="0" i="0">
                <a:solidFill>
                  <a:srgbClr val="4E4A76"/>
                </a:solidFill>
                <a:latin typeface="Calibri"/>
              </a:rPr>
              <a:t>   ·   POWERED BY A.I.R.S  ·  DR. D. Y. PATIL INSTITUTE OF TECHNOLOGY, PIMPRI</a:t>
            </a:r>
          </a:p>
        </p:txBody>
      </p:sp>
      <p:sp>
        <p:nvSpPr>
          <p:cNvPr id="21" name="Team card"/>
          <p:cNvSpPr/>
          <p:nvPr/>
        </p:nvSpPr>
        <p:spPr>
          <a:xfrm>
            <a:off x="640080" y="3154680"/>
            <a:ext cx="6126480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4400" y="3364992"/>
            <a:ext cx="566928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ED8076"/>
                </a:solidFill>
                <a:latin typeface="Arial Narrow"/>
              </a:rPr>
              <a:t>DOMAIN &amp; PS NO.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666744"/>
            <a:ext cx="5669280" cy="5394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1" i="0">
                <a:solidFill>
                  <a:srgbClr val="172243"/>
                </a:solidFill>
                <a:latin typeface="Calibri"/>
              </a:rPr>
              <a:t>6 · Public Systems &amp; Civic Technology  ·  P-03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06240"/>
            <a:ext cx="566928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ED8076"/>
                </a:solidFill>
                <a:latin typeface="Arial Narrow"/>
              </a:rPr>
              <a:t>PROBLEM STATEMENT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07992"/>
            <a:ext cx="5669280" cy="81381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1" i="0">
                <a:solidFill>
                  <a:srgbClr val="172243"/>
                </a:solidFill>
                <a:latin typeface="Calibri"/>
              </a:rPr>
              <a:t>RailFlow: Railway Disruption &amp; Platform Conflict Simulator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21808"/>
            <a:ext cx="566928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ED8076"/>
                </a:solidFill>
                <a:latin typeface="Arial Narrow"/>
              </a:rPr>
              <a:t>TEAM 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23560"/>
            <a:ext cx="5669280" cy="5394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1" i="0">
                <a:solidFill>
                  <a:srgbClr val="172243"/>
                </a:solidFill>
                <a:latin typeface="Calibri"/>
              </a:rPr>
              <a:t>Runtime Renegades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163056"/>
            <a:ext cx="566928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ED8076"/>
                </a:solidFill>
                <a:latin typeface="Arial Narrow"/>
              </a:rPr>
              <a:t>TEAM 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464808"/>
            <a:ext cx="5669280" cy="5394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1" i="0">
                <a:solidFill>
                  <a:srgbClr val="172243"/>
                </a:solidFill>
                <a:latin typeface="Calibri"/>
              </a:rPr>
              <a:t>VTX26-92646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7004304"/>
            <a:ext cx="566928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ED8076"/>
                </a:solidFill>
                <a:latin typeface="Arial Narrow"/>
              </a:rPr>
              <a:t>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7306056"/>
            <a:ext cx="5669280" cy="97840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172243"/>
                </a:solidFill>
                <a:latin typeface="Calibri"/>
              </a:rPr>
              <a:t>Gurjas Singh Gandhi (Leader)  ·  Aaditi Choramle</a:t>
            </a:r>
          </a:p>
          <a:p>
            <a:pPr algn="l"/>
            <a:r>
              <a:rPr sz="1600" b="0" i="0">
                <a:solidFill>
                  <a:srgbClr val="172243"/>
                </a:solidFill>
                <a:latin typeface="Calibri"/>
              </a:rPr>
              <a:t>MCA, P.E.S. Modern College of Engineering, Pune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05472" y="3182112"/>
            <a:ext cx="6711696" cy="38295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hero_ful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9480" y="3246120"/>
            <a:ext cx="6583680" cy="3701512"/>
          </a:xfrm>
          <a:prstGeom prst="rect">
            <a:avLst/>
          </a:prstGeom>
        </p:spPr>
      </p:pic>
      <p:sp>
        <p:nvSpPr>
          <p:cNvPr id="34" name="Thesis"/>
          <p:cNvSpPr txBox="1"/>
          <p:nvPr/>
        </p:nvSpPr>
        <p:spPr>
          <a:xfrm>
            <a:off x="7269480" y="7240240"/>
            <a:ext cx="6583680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1" i="0">
                <a:solidFill>
                  <a:srgbClr val="172243"/>
                </a:solidFill>
                <a:latin typeface="Calibri"/>
              </a:rPr>
              <a:t>The planner may be wrong. </a:t>
            </a:r>
            <a:r>
              <a:rPr sz="1900" b="1" i="0">
                <a:solidFill>
                  <a:srgbClr val="323F9D"/>
                </a:solidFill>
                <a:latin typeface="Calibri"/>
              </a:rPr>
              <a:t>The validator cannot be fooled.</a:t>
            </a:r>
          </a:p>
          <a:p>
            <a:pPr algn="l"/>
            <a:r>
              <a:rPr sz="1900" b="1" i="0">
                <a:solidFill>
                  <a:srgbClr val="ED8076"/>
                </a:solidFill>
                <a:latin typeface="Calibri"/>
              </a:rPr>
              <a:t>The AI never touches a platform.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479517"/>
            <a:chOff x="0" y="0"/>
            <a:chExt cx="24384000" cy="13972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3397" cy="13147537"/>
            </a:xfrm>
            <a:custGeom>
              <a:avLst/>
              <a:gdLst/>
              <a:ahLst/>
              <a:cxnLst/>
              <a:rect r="r" b="b" t="t" l="l"/>
              <a:pathLst>
                <a:path h="13147537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9148440" y="8847622"/>
              <a:ext cx="2333397" cy="2303005"/>
            </a:xfrm>
            <a:custGeom>
              <a:avLst/>
              <a:gdLst/>
              <a:ahLst/>
              <a:cxnLst/>
              <a:rect r="r" b="b" t="t" l="l"/>
              <a:pathLst>
                <a:path h="2303005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7412976" y="9395831"/>
              <a:ext cx="6971024" cy="4342033"/>
            </a:xfrm>
            <a:custGeom>
              <a:avLst/>
              <a:gdLst/>
              <a:ahLst/>
              <a:cxnLst/>
              <a:rect r="r" b="b" t="t" l="l"/>
              <a:pathLst>
                <a:path h="4342033" w="6971024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743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9395831"/>
              <a:ext cx="1750048" cy="4576859"/>
            </a:xfrm>
            <a:custGeom>
              <a:avLst/>
              <a:gdLst/>
              <a:ahLst/>
              <a:cxnLst/>
              <a:rect r="r" b="b" t="t" l="l"/>
              <a:pathLst>
                <a:path h="4576859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2633952" y="7273416"/>
              <a:ext cx="1750048" cy="5451418"/>
            </a:xfrm>
            <a:custGeom>
              <a:avLst/>
              <a:gdLst/>
              <a:ahLst/>
              <a:cxnLst/>
              <a:rect r="r" b="b" t="t" l="l"/>
              <a:pathLst>
                <a:path h="5451418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2275922" y="9395831"/>
              <a:ext cx="1472957" cy="3162988"/>
            </a:xfrm>
            <a:custGeom>
              <a:avLst/>
              <a:gdLst/>
              <a:ahLst/>
              <a:cxnLst/>
              <a:rect r="r" b="b" t="t" l="l"/>
              <a:pathLst>
                <a:path h="3162988" w="1472957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02920" y="201168"/>
            <a:ext cx="13350240" cy="914400"/>
          </a:xfrm>
          <a:prstGeom prst="rect">
            <a:avLst/>
          </a:prstGeom>
        </p:spPr>
        <p:txBody>
          <a:bodyPr anchor="t" rtlCol="false" tIns="0" lIns="0" bIns="0" rIns="0" wrap="none"/>
          <a:lstStyle/>
          <a:p>
            <a:pPr algn="l"/>
            <a:r>
              <a:rPr lang="en-US" b="true" sz="6000" spc="150">
                <a:solidFill>
                  <a:srgbClr val="172243"/>
                </a:solidFill>
                <a:latin typeface="Arial Narrow"/>
                <a:ea typeface="Arial Narrow"/>
                <a:cs typeface="Arial Narrow"/>
                <a:sym typeface="Arial Narrow"/>
              </a:rPr>
              <a:t>PROBLEM STATEMENT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84048" y="987552"/>
            <a:ext cx="5020450" cy="535667"/>
          </a:xfrm>
          <a:custGeom>
            <a:avLst/>
            <a:gdLst/>
            <a:ahLst/>
            <a:cxnLst/>
            <a:rect r="r" b="b" t="t" l="l"/>
            <a:pathLst>
              <a:path h="535667" w="5020450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t="0" r="-1125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178937" y="216170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923818" y="2160727"/>
            <a:ext cx="4364182" cy="2153601"/>
          </a:xfrm>
          <a:custGeom>
            <a:avLst/>
            <a:gdLst/>
            <a:ahLst/>
            <a:cxnLst/>
            <a:rect r="r" b="b" t="t" l="l"/>
            <a:pathLst>
              <a:path h="2153601" w="4364182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 l="0" t="0" r="0" b="0"/>
            </a:stretch>
          </a:blipFill>
        </p:spPr>
      </p:sp>
      <p:sp>
        <p:nvSpPr>
          <p:cNvPr id="14" name="TextBox 13"/>
          <p:cNvSpPr txBox="1"/>
          <p:nvPr/>
        </p:nvSpPr>
        <p:spPr>
          <a:xfrm>
            <a:off x="640080" y="1664208"/>
            <a:ext cx="128016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1" i="0">
                <a:solidFill>
                  <a:srgbClr val="172243"/>
                </a:solidFill>
                <a:latin typeface="Calibri"/>
              </a:rPr>
              <a:t>At an Indian junction, one late train rarely stays one late train </a:t>
            </a:r>
            <a:r>
              <a:rPr sz="2200" b="0" i="0">
                <a:solidFill>
                  <a:srgbClr val="4E4A76"/>
                </a:solidFill>
                <a:latin typeface="Calibri"/>
              </a:rPr>
              <a:t>— and it is replanned by hand.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23160"/>
            <a:ext cx="63093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14400" y="2715768"/>
            <a:ext cx="658368" cy="658368"/>
          </a:xfrm>
          <a:prstGeom prst="ellipse">
            <a:avLst/>
          </a:prstGeom>
          <a:solidFill>
            <a:srgbClr val="ED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 Narrow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679191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100" b="1" i="0">
                <a:solidFill>
                  <a:srgbClr val="172243"/>
                </a:solidFill>
                <a:latin typeface="Calibri"/>
              </a:rPr>
              <a:t>One delay becomes many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172968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5B6275"/>
                </a:solidFill>
                <a:latin typeface="Calibri"/>
              </a:rPr>
              <a:t>A train running 30 min late holds its platform; the trains due there next are blocked and the delay spreads down the timetable.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2423160"/>
            <a:ext cx="63093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7452360" y="2715768"/>
            <a:ext cx="658368" cy="658368"/>
          </a:xfrm>
          <a:prstGeom prst="ellipse">
            <a:avLst/>
          </a:prstGeom>
          <a:solidFill>
            <a:srgbClr val="ED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 Narrow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79191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100" b="1" i="0">
                <a:solidFill>
                  <a:srgbClr val="172243"/>
                </a:solidFill>
                <a:latin typeface="Calibri"/>
              </a:rPr>
              <a:t>Replanned by phone and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172968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5B6275"/>
                </a:solidFill>
                <a:latin typeface="Calibri"/>
              </a:rPr>
              <a:t>Station masters and section controllers rework platforms over radio and phone, with registers, while the clock keeps running.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663440"/>
            <a:ext cx="63093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14400" y="4956048"/>
            <a:ext cx="658368" cy="658368"/>
          </a:xfrm>
          <a:prstGeom prst="ellipse">
            <a:avLst/>
          </a:prstGeom>
          <a:solidFill>
            <a:srgbClr val="ED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 Narrow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91947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100" b="1" i="0">
                <a:solidFill>
                  <a:srgbClr val="172243"/>
                </a:solidFill>
                <a:latin typeface="Calibri"/>
              </a:rPr>
              <a:t>Too many rules to juggle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5413248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5B6275"/>
                </a:solidFill>
                <a:latin typeface="Calibri"/>
              </a:rPr>
              <a:t>Minimum clearance between trains, 24–26-coach rakes vs short platforms, MEMU-only bays, goods loops, maintenance blocks.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8040" y="4663440"/>
            <a:ext cx="63093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7452360" y="4956048"/>
            <a:ext cx="658368" cy="658368"/>
          </a:xfrm>
          <a:prstGeom prst="ellipse">
            <a:avLst/>
          </a:prstGeom>
          <a:solidFill>
            <a:srgbClr val="ED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 Narrow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91947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100" b="1" i="0">
                <a:solidFill>
                  <a:srgbClr val="172243"/>
                </a:solidFill>
                <a:latin typeface="Calibri"/>
              </a:rPr>
              <a:t>A missed clash reaches the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5413248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5B6275"/>
                </a:solidFill>
                <a:latin typeface="Calibri"/>
              </a:rPr>
              <a:t>Manual checks miss a 2-minute gap; late platform switches send crowds across foot-over-bridges.</a:t>
            </a:r>
          </a:p>
        </p:txBody>
      </p:sp>
      <p:sp>
        <p:nvSpPr>
          <p:cNvPr id="31" name="PS asks"/>
          <p:cNvSpPr/>
          <p:nvPr/>
        </p:nvSpPr>
        <p:spPr>
          <a:xfrm>
            <a:off x="640080" y="7022592"/>
            <a:ext cx="12847320" cy="2240280"/>
          </a:xfrm>
          <a:prstGeom prst="roundRect">
            <a:avLst>
              <a:gd name="adj" fmla="val 8000"/>
            </a:avLst>
          </a:prstGeom>
          <a:solidFill>
            <a:srgbClr val="172243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14400" y="7187184"/>
            <a:ext cx="123444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1" i="0">
                <a:solidFill>
                  <a:srgbClr val="ED8076"/>
                </a:solidFill>
                <a:latin typeface="Arial Narrow"/>
              </a:rPr>
              <a:t>WHAT P-03 ASKS FOR  —  AND WHAT RAILFLOW DELIVERS, ALL FIVE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769924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7FD8A8"/>
                </a:solidFill>
                <a:latin typeface="Arial Narrow"/>
              </a:rPr>
              <a:t>✓ </a:t>
            </a:r>
            <a:r>
              <a:rPr sz="2000" b="1" i="0">
                <a:solidFill>
                  <a:srgbClr val="FFFFFF"/>
                </a:solidFill>
                <a:latin typeface="Arial Narrow"/>
              </a:rPr>
              <a:t>ASSIGN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8138160"/>
            <a:ext cx="2286000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E6E9F2"/>
                </a:solidFill>
                <a:latin typeface="Calibri"/>
              </a:rPr>
              <a:t>No platform double-booked; every gap kept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01568" y="769924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7FD8A8"/>
                </a:solidFill>
                <a:latin typeface="Arial Narrow"/>
              </a:rPr>
              <a:t>✓ </a:t>
            </a:r>
            <a:r>
              <a:rPr sz="2000" b="1" i="0">
                <a:solidFill>
                  <a:srgbClr val="FFFFFF"/>
                </a:solidFill>
                <a:latin typeface="Arial Narrow"/>
              </a:rPr>
              <a:t>DETECT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1568" y="8138160"/>
            <a:ext cx="2286000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E6E9F2"/>
                </a:solidFill>
                <a:latin typeface="Calibri"/>
              </a:rPr>
              <a:t>Each conflict reported by train &amp;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88736" y="769924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7FD8A8"/>
                </a:solidFill>
                <a:latin typeface="Arial Narrow"/>
              </a:rPr>
              <a:t>✓ </a:t>
            </a:r>
            <a:r>
              <a:rPr sz="2000" b="1" i="0">
                <a:solidFill>
                  <a:srgbClr val="FFFFFF"/>
                </a:solidFill>
                <a:latin typeface="Arial Narrow"/>
              </a:rPr>
              <a:t>REPLAN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88736" y="8138160"/>
            <a:ext cx="2286000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E6E9F2"/>
                </a:solidFill>
                <a:latin typeface="Calibri"/>
              </a:rPr>
              <a:t>Delays &amp; closures, with a reason per change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5904" y="769924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7FD8A8"/>
                </a:solidFill>
                <a:latin typeface="Arial Narrow"/>
              </a:rPr>
              <a:t>✓ </a:t>
            </a:r>
            <a:r>
              <a:rPr sz="2000" b="1" i="0">
                <a:solidFill>
                  <a:srgbClr val="FFFFFF"/>
                </a:solidFill>
                <a:latin typeface="Arial Narrow"/>
              </a:rPr>
              <a:t>VALIDATE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75904" y="8138160"/>
            <a:ext cx="2286000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E6E9F2"/>
                </a:solidFill>
                <a:latin typeface="Calibri"/>
              </a:rPr>
              <a:t>Independent check; never 'valid' when not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63072" y="769924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7FD8A8"/>
                </a:solidFill>
                <a:latin typeface="Arial Narrow"/>
              </a:rPr>
              <a:t>✓ </a:t>
            </a:r>
            <a:r>
              <a:rPr sz="2000" b="1" i="0">
                <a:solidFill>
                  <a:srgbClr val="FFFFFF"/>
                </a:solidFill>
                <a:latin typeface="Arial Narrow"/>
              </a:rPr>
              <a:t>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63072" y="8138160"/>
            <a:ext cx="2286000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E6E9F2"/>
                </a:solidFill>
                <a:latin typeface="Calibri"/>
              </a:rPr>
              <a:t>Text → delays &amp; closures; explains trade-offs; never assigns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479517"/>
            <a:chOff x="0" y="0"/>
            <a:chExt cx="24384000" cy="13972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3397" cy="13147537"/>
            </a:xfrm>
            <a:custGeom>
              <a:avLst/>
              <a:gdLst/>
              <a:ahLst/>
              <a:cxnLst/>
              <a:rect r="r" b="b" t="t" l="l"/>
              <a:pathLst>
                <a:path h="13147537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9148440" y="8847622"/>
              <a:ext cx="2333397" cy="2303005"/>
            </a:xfrm>
            <a:custGeom>
              <a:avLst/>
              <a:gdLst/>
              <a:ahLst/>
              <a:cxnLst/>
              <a:rect r="r" b="b" t="t" l="l"/>
              <a:pathLst>
                <a:path h="2303005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7412976" y="9395831"/>
              <a:ext cx="6971024" cy="4342033"/>
            </a:xfrm>
            <a:custGeom>
              <a:avLst/>
              <a:gdLst/>
              <a:ahLst/>
              <a:cxnLst/>
              <a:rect r="r" b="b" t="t" l="l"/>
              <a:pathLst>
                <a:path h="4342033" w="6971024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743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9395831"/>
              <a:ext cx="1750048" cy="4576859"/>
            </a:xfrm>
            <a:custGeom>
              <a:avLst/>
              <a:gdLst/>
              <a:ahLst/>
              <a:cxnLst/>
              <a:rect r="r" b="b" t="t" l="l"/>
              <a:pathLst>
                <a:path h="4576859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2633952" y="7273416"/>
              <a:ext cx="1750048" cy="5451418"/>
            </a:xfrm>
            <a:custGeom>
              <a:avLst/>
              <a:gdLst/>
              <a:ahLst/>
              <a:cxnLst/>
              <a:rect r="r" b="b" t="t" l="l"/>
              <a:pathLst>
                <a:path h="5451418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2275922" y="9395831"/>
              <a:ext cx="1472957" cy="3162988"/>
            </a:xfrm>
            <a:custGeom>
              <a:avLst/>
              <a:gdLst/>
              <a:ahLst/>
              <a:cxnLst/>
              <a:rect r="r" b="b" t="t" l="l"/>
              <a:pathLst>
                <a:path h="3162988" w="1472957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02920" y="201168"/>
            <a:ext cx="13350240" cy="914400"/>
          </a:xfrm>
          <a:prstGeom prst="rect">
            <a:avLst/>
          </a:prstGeom>
        </p:spPr>
        <p:txBody>
          <a:bodyPr anchor="t" rtlCol="false" tIns="0" lIns="0" bIns="0" rIns="0" wrap="none"/>
          <a:lstStyle/>
          <a:p>
            <a:pPr algn="l"/>
            <a:r>
              <a:rPr lang="en-US" b="true" sz="6000" spc="150">
                <a:solidFill>
                  <a:srgbClr val="172243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SOLUTION: RAILFLOW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84048" y="987552"/>
            <a:ext cx="5020450" cy="535667"/>
          </a:xfrm>
          <a:custGeom>
            <a:avLst/>
            <a:gdLst/>
            <a:ahLst/>
            <a:cxnLst/>
            <a:rect r="r" b="b" t="t" l="l"/>
            <a:pathLst>
              <a:path h="535667" w="5020450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t="0" r="-1125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178937" y="216170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923818" y="2160727"/>
            <a:ext cx="4364182" cy="2153601"/>
          </a:xfrm>
          <a:custGeom>
            <a:avLst/>
            <a:gdLst/>
            <a:ahLst/>
            <a:cxnLst/>
            <a:rect r="r" b="b" t="t" l="l"/>
            <a:pathLst>
              <a:path h="2153601" w="4364182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 l="0" t="0" r="0" b="0"/>
            </a:stretch>
          </a:blipFill>
        </p:spPr>
      </p:sp>
      <p:sp>
        <p:nvSpPr>
          <p:cNvPr id="14" name="TextBox 13"/>
          <p:cNvSpPr txBox="1"/>
          <p:nvPr/>
        </p:nvSpPr>
        <p:spPr>
          <a:xfrm>
            <a:off x="640080" y="1664208"/>
            <a:ext cx="128016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1" i="0">
                <a:solidFill>
                  <a:srgbClr val="172243"/>
                </a:solidFill>
                <a:latin typeface="Calibri"/>
              </a:rPr>
              <a:t>Speak or type the disruption. </a:t>
            </a:r>
            <a:r>
              <a:rPr sz="2400" b="1" i="0">
                <a:solidFill>
                  <a:srgbClr val="323F9D"/>
                </a:solidFill>
                <a:latin typeface="Calibri"/>
              </a:rPr>
              <a:t>Get a replan that is proven conflict-free — in seconds.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395728"/>
            <a:ext cx="239572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41247" y="2560320"/>
            <a:ext cx="548640" cy="548640"/>
          </a:xfrm>
          <a:prstGeom prst="ellipse">
            <a:avLst/>
          </a:prstGeom>
          <a:solidFill>
            <a:srgbClr val="ED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 Narrow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615184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1" i="0">
                <a:solidFill>
                  <a:srgbClr val="172243"/>
                </a:solidFill>
                <a:latin typeface="Arial Narrow"/>
              </a:rPr>
              <a:t>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246120"/>
            <a:ext cx="205740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Radio clip, typing or the + delay / + closure forms · EN · हिं · मर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54096" y="3364992"/>
            <a:ext cx="182880" cy="329184"/>
          </a:xfrm>
          <a:prstGeom prst="rightArrow">
            <a:avLst/>
          </a:prstGeom>
          <a:solidFill>
            <a:srgbClr val="7F5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55263" y="2395728"/>
            <a:ext cx="239572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3456432" y="2560320"/>
            <a:ext cx="548640" cy="548640"/>
          </a:xfrm>
          <a:prstGeom prst="ellipse">
            <a:avLst/>
          </a:prstGeom>
          <a:solidFill>
            <a:srgbClr val="ED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 Narrow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23944" y="2615184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1" i="0">
                <a:solidFill>
                  <a:srgbClr val="172243"/>
                </a:solidFill>
                <a:latin typeface="Arial Narrow"/>
              </a:rPr>
              <a:t>AI PROPOSES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3246120"/>
            <a:ext cx="205740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Local LLM turns words into delays &amp; closures, each linked to its source words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669279" y="3364992"/>
            <a:ext cx="182880" cy="329184"/>
          </a:xfrm>
          <a:prstGeom prst="rightArrow">
            <a:avLst/>
          </a:prstGeom>
          <a:solidFill>
            <a:srgbClr val="7F5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870448" y="2395728"/>
            <a:ext cx="239572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6071616" y="2560320"/>
            <a:ext cx="548640" cy="548640"/>
          </a:xfrm>
          <a:prstGeom prst="ellipse">
            <a:avLst/>
          </a:prstGeom>
          <a:solidFill>
            <a:srgbClr val="ED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 Narrow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8" y="2615184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1" i="0">
                <a:solidFill>
                  <a:srgbClr val="172243"/>
                </a:solidFill>
                <a:latin typeface="Arial Narrow"/>
              </a:rPr>
              <a:t>HUMAN CONFIRMS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71616" y="3246120"/>
            <a:ext cx="205740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Unknown trains are rejected, never guessed; the controller signs off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284464" y="3364992"/>
            <a:ext cx="182880" cy="329184"/>
          </a:xfrm>
          <a:prstGeom prst="rightArrow">
            <a:avLst/>
          </a:prstGeom>
          <a:solidFill>
            <a:srgbClr val="7F5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85632" y="2395728"/>
            <a:ext cx="239572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8686800" y="2560320"/>
            <a:ext cx="548640" cy="548640"/>
          </a:xfrm>
          <a:prstGeom prst="ellipse">
            <a:avLst/>
          </a:prstGeom>
          <a:solidFill>
            <a:srgbClr val="ED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 Narrow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4311" y="2615184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1" i="0">
                <a:solidFill>
                  <a:srgbClr val="172243"/>
                </a:solidFill>
                <a:latin typeface="Arial Narrow"/>
              </a:rPr>
              <a:t>OPTIMISE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3246120"/>
            <a:ext cx="205740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OR-Tools CP-SAT: A = least delay, B = fewest platform changes, plus a greedy baseline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0899648" y="3364992"/>
            <a:ext cx="182880" cy="329184"/>
          </a:xfrm>
          <a:prstGeom prst="rightArrow">
            <a:avLst/>
          </a:prstGeom>
          <a:solidFill>
            <a:srgbClr val="7F5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100815" y="2395728"/>
            <a:ext cx="239572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11301984" y="2560320"/>
            <a:ext cx="548640" cy="548640"/>
          </a:xfrm>
          <a:prstGeom prst="ellipse">
            <a:avLst/>
          </a:prstGeom>
          <a:solidFill>
            <a:srgbClr val="1E9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 Narrow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969495" y="2615184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1" i="0">
                <a:solidFill>
                  <a:srgbClr val="172243"/>
                </a:solidFill>
                <a:latin typeface="Arial Narrow"/>
              </a:rPr>
              <a:t>PROVE &amp; APPLY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01984" y="3246120"/>
            <a:ext cx="205740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Independent validator (V1–V10) → hash-checked apply → audit chain</a:t>
            </a:r>
          </a:p>
        </p:txBody>
      </p:sp>
      <p:sp>
        <p:nvSpPr>
          <p:cNvPr id="39" name="Thesis panel"/>
          <p:cNvSpPr/>
          <p:nvPr/>
        </p:nvSpPr>
        <p:spPr>
          <a:xfrm>
            <a:off x="640080" y="4983480"/>
            <a:ext cx="5989320" cy="4114800"/>
          </a:xfrm>
          <a:prstGeom prst="roundRect">
            <a:avLst>
              <a:gd name="adj" fmla="val 8000"/>
            </a:avLst>
          </a:prstGeom>
          <a:solidFill>
            <a:srgbClr val="172243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14400" y="5193792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ED8076"/>
                </a:solidFill>
                <a:latin typeface="Arial Narrow"/>
              </a:rPr>
              <a:t>OUR DESIGN RULE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596128"/>
            <a:ext cx="5486400" cy="1737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The planner may be wrong.</a:t>
            </a:r>
          </a:p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The validator cannot be fooled.</a:t>
            </a:r>
          </a:p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The AI never touches a platform.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7406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ED8076"/>
                </a:solidFill>
                <a:latin typeface="Arial Narrow"/>
              </a:rPr>
              <a:t>BUILT FOR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" y="781812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2B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Station master / Dy. SS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0" y="781812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2B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Section controller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" y="8385048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2B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Divisional control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0" y="8385048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2B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Admin / audit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03720" y="5010912"/>
            <a:ext cx="6574536" cy="358678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" name="Picture 47" descr="compar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67728" y="5074920"/>
            <a:ext cx="6446520" cy="345876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967728" y="8707421"/>
            <a:ext cx="644652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D8076"/>
                </a:solidFill>
                <a:latin typeface="Calibri"/>
              </a:rPr>
              <a:t>Live, S2: </a:t>
            </a:r>
            <a:r>
              <a:rPr sz="1400" b="0" i="0">
                <a:solidFill>
                  <a:srgbClr val="172243"/>
                </a:solidFill>
                <a:latin typeface="Calibri"/>
              </a:rPr>
              <a:t>11209 runs 30 min late + PF 3 shut → 3 of 30 trains move; all 3 revisions independently VALID.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469" y="0"/>
            <a:ext cx="18288000" cy="10479517"/>
            <a:chOff x="0" y="0"/>
            <a:chExt cx="24384000" cy="13972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3397" cy="13147537"/>
            </a:xfrm>
            <a:custGeom>
              <a:avLst/>
              <a:gdLst/>
              <a:ahLst/>
              <a:cxnLst/>
              <a:rect r="r" b="b" t="t" l="l"/>
              <a:pathLst>
                <a:path h="13147537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9148440" y="8847622"/>
              <a:ext cx="2333397" cy="2303005"/>
            </a:xfrm>
            <a:custGeom>
              <a:avLst/>
              <a:gdLst/>
              <a:ahLst/>
              <a:cxnLst/>
              <a:rect r="r" b="b" t="t" l="l"/>
              <a:pathLst>
                <a:path h="2303005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7412976" y="9395831"/>
              <a:ext cx="6971024" cy="4342033"/>
            </a:xfrm>
            <a:custGeom>
              <a:avLst/>
              <a:gdLst/>
              <a:ahLst/>
              <a:cxnLst/>
              <a:rect r="r" b="b" t="t" l="l"/>
              <a:pathLst>
                <a:path h="4342033" w="6971024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743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9395831"/>
              <a:ext cx="1750048" cy="4576859"/>
            </a:xfrm>
            <a:custGeom>
              <a:avLst/>
              <a:gdLst/>
              <a:ahLst/>
              <a:cxnLst/>
              <a:rect r="r" b="b" t="t" l="l"/>
              <a:pathLst>
                <a:path h="4576859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2633952" y="7273416"/>
              <a:ext cx="1750048" cy="5451418"/>
            </a:xfrm>
            <a:custGeom>
              <a:avLst/>
              <a:gdLst/>
              <a:ahLst/>
              <a:cxnLst/>
              <a:rect r="r" b="b" t="t" l="l"/>
              <a:pathLst>
                <a:path h="5451418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2275922" y="9395831"/>
              <a:ext cx="1472957" cy="3162988"/>
            </a:xfrm>
            <a:custGeom>
              <a:avLst/>
              <a:gdLst/>
              <a:ahLst/>
              <a:cxnLst/>
              <a:rect r="r" b="b" t="t" l="l"/>
              <a:pathLst>
                <a:path h="3162988" w="1472957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02920" y="201168"/>
            <a:ext cx="13350240" cy="914400"/>
          </a:xfrm>
          <a:prstGeom prst="rect">
            <a:avLst/>
          </a:prstGeom>
        </p:spPr>
        <p:txBody>
          <a:bodyPr anchor="t" rtlCol="false" tIns="0" lIns="0" bIns="0" rIns="0" wrap="none"/>
          <a:lstStyle/>
          <a:p>
            <a:pPr algn="l"/>
            <a:r>
              <a:rPr lang="en-US" b="true" sz="6000" spc="150">
                <a:solidFill>
                  <a:srgbClr val="172243"/>
                </a:solidFill>
                <a:latin typeface="Arial Narrow"/>
                <a:ea typeface="Arial Narrow"/>
                <a:cs typeface="Arial Narrow"/>
                <a:sym typeface="Arial Narrow"/>
              </a:rPr>
              <a:t>TECHNICAL APPROACH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84048" y="987552"/>
            <a:ext cx="5020450" cy="535667"/>
          </a:xfrm>
          <a:custGeom>
            <a:avLst/>
            <a:gdLst/>
            <a:ahLst/>
            <a:cxnLst/>
            <a:rect r="r" b="b" t="t" l="l"/>
            <a:pathLst>
              <a:path h="535667" w="5020450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t="0" r="-1125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923818" y="2160727"/>
            <a:ext cx="4364182" cy="2153601"/>
          </a:xfrm>
          <a:custGeom>
            <a:avLst/>
            <a:gdLst/>
            <a:ahLst/>
            <a:cxnLst/>
            <a:rect r="r" b="b" t="t" l="l"/>
            <a:pathLst>
              <a:path h="2153601" w="4364182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178937" y="216170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id="14" name="Rounded Rectangle 13"/>
          <p:cNvSpPr/>
          <p:nvPr/>
        </p:nvSpPr>
        <p:spPr>
          <a:xfrm>
            <a:off x="640080" y="1691640"/>
            <a:ext cx="8595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1819656"/>
            <a:ext cx="8193024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1" i="0">
                <a:solidFill>
                  <a:srgbClr val="172243"/>
                </a:solidFill>
                <a:latin typeface="Arial Narrow"/>
              </a:rPr>
              <a:t>OPERATOR UI  ·  React 19 + TypeScript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203704"/>
            <a:ext cx="8193024" cy="5760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Gantt truth view · 3D / 2D station · compare &amp; apply · reason cards · EN · हिं · मर · phone / tablet / desktop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90672"/>
            <a:ext cx="8595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218688"/>
            <a:ext cx="8193024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1" i="0">
                <a:solidFill>
                  <a:srgbClr val="172243"/>
                </a:solidFill>
                <a:latin typeface="Arial Narrow"/>
              </a:rPr>
              <a:t>API  ·  FastAPI + Pydantic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602736"/>
            <a:ext cx="8193024" cy="5760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Roles &amp; Argon2id sessions · CSP + Origin checks · every action and refusal written to the audit chain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89704"/>
            <a:ext cx="2697480" cy="2514600"/>
          </a:xfrm>
          <a:prstGeom prst="roundRect">
            <a:avLst>
              <a:gd name="adj" fmla="val 8000"/>
            </a:avLst>
          </a:prstGeom>
          <a:solidFill>
            <a:srgbClr val="F3EEF8"/>
          </a:solidFill>
          <a:ln w="15875">
            <a:solidFill>
              <a:srgbClr val="7F5E87"/>
            </a:solidFill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1247" y="4617720"/>
            <a:ext cx="2295144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1" i="0">
                <a:solidFill>
                  <a:srgbClr val="172243"/>
                </a:solidFill>
                <a:latin typeface="Arial Narrow"/>
              </a:rPr>
              <a:t>AI BRANCH  (advisory)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5001768"/>
            <a:ext cx="2295144" cy="19476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Ollama qwen2.5:3b, local</a:t>
            </a:r>
          </a:p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Whisper small for radio</a:t>
            </a:r>
          </a:p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Regex + template fallback</a:t>
            </a:r>
          </a:p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Numbers must appear in the source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84448" y="4489704"/>
            <a:ext cx="2697480" cy="2514600"/>
          </a:xfrm>
          <a:prstGeom prst="roundRect">
            <a:avLst>
              <a:gd name="adj" fmla="val 8000"/>
            </a:avLst>
          </a:prstGeom>
          <a:solidFill>
            <a:srgbClr val="EEF1FA"/>
          </a:solidFill>
          <a:ln w="15875">
            <a:solidFill>
              <a:srgbClr val="323F9D"/>
            </a:solidFill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785615" y="4617720"/>
            <a:ext cx="2295144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1" i="0">
                <a:solidFill>
                  <a:srgbClr val="172243"/>
                </a:solidFill>
                <a:latin typeface="Arial Narrow"/>
              </a:rPr>
              <a:t>PLANNER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5615" y="5001768"/>
            <a:ext cx="2295144" cy="19476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OR-Tools CP-SAT</a:t>
            </a:r>
          </a:p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Lexicographic objective</a:t>
            </a:r>
          </a:p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Replans the affected set only</a:t>
            </a:r>
          </a:p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Greedy baseline to compare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4489704"/>
            <a:ext cx="2697480" cy="2514600"/>
          </a:xfrm>
          <a:prstGeom prst="roundRect">
            <a:avLst>
              <a:gd name="adj" fmla="val 8000"/>
            </a:avLst>
          </a:prstGeom>
          <a:solidFill>
            <a:srgbClr val="EAF6EF"/>
          </a:solidFill>
          <a:ln w="15875">
            <a:solidFill>
              <a:srgbClr val="1E9E62"/>
            </a:solidFill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739128" y="4617720"/>
            <a:ext cx="2295144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1" i="0">
                <a:solidFill>
                  <a:srgbClr val="172243"/>
                </a:solidFill>
                <a:latin typeface="Arial Narrow"/>
              </a:rPr>
              <a:t>VALIDATOR  (independent)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5001768"/>
            <a:ext cx="2295144" cy="19476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Sweep line, V1–V10</a:t>
            </a:r>
          </a:p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Imports only the data models</a:t>
            </a:r>
          </a:p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Reports every violating pair</a:t>
            </a:r>
          </a:p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Sole source of VALID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346704" y="5577840"/>
            <a:ext cx="219456" cy="347472"/>
          </a:xfrm>
          <a:prstGeom prst="rightArrow">
            <a:avLst/>
          </a:prstGeom>
          <a:solidFill>
            <a:srgbClr val="17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6300216" y="5577840"/>
            <a:ext cx="219456" cy="347472"/>
          </a:xfrm>
          <a:prstGeom prst="rightArrow">
            <a:avLst/>
          </a:prstGeom>
          <a:solidFill>
            <a:srgbClr val="17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7086600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400" b="1" i="0">
                <a:solidFill>
                  <a:srgbClr val="7F5E87"/>
                </a:solidFill>
                <a:latin typeface="Calibri"/>
              </a:rPr>
              <a:t>proposals → human confirm → plan → prove → apply  (AI output can never express a platform assignment)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758952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41247" y="7717536"/>
            <a:ext cx="8193024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1" i="0">
                <a:solidFill>
                  <a:srgbClr val="172243"/>
                </a:solidFill>
                <a:latin typeface="Arial Narrow"/>
              </a:rPr>
              <a:t>STORAGE  ·  SQLite (WAL)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" y="8101584"/>
            <a:ext cx="8193024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Immutable revisions · SHA-256 hash-chained audit log · apply = hash match + re-validate + one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173736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 i="0">
                <a:solidFill>
                  <a:srgbClr val="ED8076"/>
                </a:solidFill>
                <a:latin typeface="Arial Narrow"/>
              </a:rPr>
              <a:t>HOW IT DECIDES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92640" y="2212848"/>
            <a:ext cx="3840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893808" y="234086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1" i="0">
                <a:solidFill>
                  <a:srgbClr val="172243"/>
                </a:solidFill>
                <a:latin typeface="Calibri"/>
              </a:rPr>
              <a:t>One occupancy rule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93808" y="2715768"/>
            <a:ext cx="352044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A train holds its platform for [arrival, departure + min gap).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92640" y="3785615"/>
            <a:ext cx="3840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893808" y="3913631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1" i="0">
                <a:solidFill>
                  <a:srgbClr val="172243"/>
                </a:solidFill>
                <a:latin typeface="Calibri"/>
              </a:rPr>
              <a:t>Strict priorities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93808" y="4288536"/>
            <a:ext cx="352044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First: no train left unplaced. Then the controller's goal: least delay or fewest changes.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92640" y="5358383"/>
            <a:ext cx="3840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893808" y="5486399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1" i="0">
                <a:solidFill>
                  <a:srgbClr val="172243"/>
                </a:solidFill>
                <a:latin typeface="Calibri"/>
              </a:rPr>
              <a:t>Touch only what broke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93808" y="5861303"/>
            <a:ext cx="352044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Replan the affected trains; widen the set only when forced.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92640" y="6931152"/>
            <a:ext cx="3840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893808" y="7059168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1" i="0">
                <a:solidFill>
                  <a:srgbClr val="172243"/>
                </a:solidFill>
                <a:latin typeface="Calibri"/>
              </a:rPr>
              <a:t>Nothing unproven ships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93808" y="7434072"/>
            <a:ext cx="352044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A plan that fails validation cannot be applied — the button is locked.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8915400"/>
            <a:ext cx="1385316" cy="420624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Python 3.12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53412" y="8915400"/>
            <a:ext cx="964692" cy="420624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FastAPI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46120" y="8915400"/>
            <a:ext cx="1069848" cy="420624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OR-Tools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43984" y="8915400"/>
            <a:ext cx="859536" cy="420624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SQLite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31536" y="8915400"/>
            <a:ext cx="1069848" cy="420624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React 19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629400" y="8915400"/>
            <a:ext cx="1069848" cy="420624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Three.js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827264" y="8915400"/>
            <a:ext cx="859536" cy="420624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Ollama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14816" y="8915400"/>
            <a:ext cx="1700784" cy="420624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faster-whisper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643616" y="8915400"/>
            <a:ext cx="2226564" cy="420624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pytest + Hypothesis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469" y="0"/>
            <a:ext cx="18288000" cy="10479517"/>
            <a:chOff x="0" y="0"/>
            <a:chExt cx="24384000" cy="13972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3397" cy="13147537"/>
            </a:xfrm>
            <a:custGeom>
              <a:avLst/>
              <a:gdLst/>
              <a:ahLst/>
              <a:cxnLst/>
              <a:rect r="r" b="b" t="t" l="l"/>
              <a:pathLst>
                <a:path h="13147537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9148440" y="8847622"/>
              <a:ext cx="2333397" cy="2303005"/>
            </a:xfrm>
            <a:custGeom>
              <a:avLst/>
              <a:gdLst/>
              <a:ahLst/>
              <a:cxnLst/>
              <a:rect r="r" b="b" t="t" l="l"/>
              <a:pathLst>
                <a:path h="2303005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7412976" y="9395831"/>
              <a:ext cx="6971024" cy="4342033"/>
            </a:xfrm>
            <a:custGeom>
              <a:avLst/>
              <a:gdLst/>
              <a:ahLst/>
              <a:cxnLst/>
              <a:rect r="r" b="b" t="t" l="l"/>
              <a:pathLst>
                <a:path h="4342033" w="6971024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743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9395831"/>
              <a:ext cx="1750048" cy="4576859"/>
            </a:xfrm>
            <a:custGeom>
              <a:avLst/>
              <a:gdLst/>
              <a:ahLst/>
              <a:cxnLst/>
              <a:rect r="r" b="b" t="t" l="l"/>
              <a:pathLst>
                <a:path h="4576859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2633952" y="7273416"/>
              <a:ext cx="1750048" cy="5451418"/>
            </a:xfrm>
            <a:custGeom>
              <a:avLst/>
              <a:gdLst/>
              <a:ahLst/>
              <a:cxnLst/>
              <a:rect r="r" b="b" t="t" l="l"/>
              <a:pathLst>
                <a:path h="5451418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2275922" y="9395831"/>
              <a:ext cx="1472957" cy="3162988"/>
            </a:xfrm>
            <a:custGeom>
              <a:avLst/>
              <a:gdLst/>
              <a:ahLst/>
              <a:cxnLst/>
              <a:rect r="r" b="b" t="t" l="l"/>
              <a:pathLst>
                <a:path h="3162988" w="1472957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02920" y="201168"/>
            <a:ext cx="13350240" cy="914400"/>
          </a:xfrm>
          <a:prstGeom prst="rect">
            <a:avLst/>
          </a:prstGeom>
        </p:spPr>
        <p:txBody>
          <a:bodyPr anchor="t" rtlCol="false" tIns="0" lIns="0" bIns="0" rIns="0" wrap="none"/>
          <a:lstStyle/>
          <a:p>
            <a:pPr algn="l"/>
            <a:r>
              <a:rPr lang="en-US" b="true" sz="6000" spc="150">
                <a:solidFill>
                  <a:srgbClr val="172243"/>
                </a:solidFill>
                <a:latin typeface="Arial Narrow"/>
                <a:ea typeface="Arial Narrow"/>
                <a:cs typeface="Arial Narrow"/>
                <a:sym typeface="Arial Narrow"/>
              </a:rPr>
              <a:t>HOW THE VALIDATOR WORKS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84048" y="987552"/>
            <a:ext cx="5020450" cy="535667"/>
          </a:xfrm>
          <a:custGeom>
            <a:avLst/>
            <a:gdLst/>
            <a:ahLst/>
            <a:cxnLst/>
            <a:rect r="r" b="b" t="t" l="l"/>
            <a:pathLst>
              <a:path h="535667" w="5020450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t="0" r="-1125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923818" y="2160727"/>
            <a:ext cx="4364182" cy="2153601"/>
          </a:xfrm>
          <a:custGeom>
            <a:avLst/>
            <a:gdLst/>
            <a:ahLst/>
            <a:cxnLst/>
            <a:rect r="r" b="b" t="t" l="l"/>
            <a:pathLst>
              <a:path h="2153601" w="4364182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178937" y="216170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id="14" name="TextBox 13"/>
          <p:cNvSpPr txBox="1"/>
          <p:nvPr/>
        </p:nvSpPr>
        <p:spPr>
          <a:xfrm>
            <a:off x="640080" y="1664208"/>
            <a:ext cx="128016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1" i="0">
                <a:solidFill>
                  <a:srgbClr val="172243"/>
                </a:solidFill>
                <a:latin typeface="Calibri"/>
              </a:rPr>
              <a:t>A separate checker re-proves every plan from scratch </a:t>
            </a:r>
            <a:r>
              <a:rPr sz="2200" b="1" i="0">
                <a:solidFill>
                  <a:srgbClr val="323F9D"/>
                </a:solidFill>
                <a:latin typeface="Calibri"/>
              </a:rPr>
              <a:t>— with a different algorithm from the planner.</a:t>
            </a:r>
          </a:p>
        </p:txBody>
      </p:sp>
      <p:sp>
        <p:nvSpPr>
          <p:cNvPr id="15" name="Sweep card"/>
          <p:cNvSpPr/>
          <p:nvPr/>
        </p:nvSpPr>
        <p:spPr>
          <a:xfrm>
            <a:off x="640080" y="237744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2487168"/>
            <a:ext cx="640080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ED8076"/>
                </a:solidFill>
                <a:latin typeface="Arial Narrow"/>
              </a:rPr>
              <a:t>THE SWEEP LINE, ON THE REAL S3 CONFLICTS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72056" y="3200400"/>
            <a:ext cx="0" cy="2057400"/>
          </a:xfrm>
          <a:prstGeom prst="line">
            <a:avLst/>
          </a:prstGeom>
          <a:ln w="12700">
            <a:solidFill>
              <a:srgbClr val="E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606296" y="2926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200" b="0" i="0">
                <a:solidFill>
                  <a:srgbClr val="5B6275"/>
                </a:solidFill>
                <a:latin typeface="Calibri"/>
              </a:rPr>
              <a:t>13:40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59480" y="3200400"/>
            <a:ext cx="0" cy="2057400"/>
          </a:xfrm>
          <a:prstGeom prst="line">
            <a:avLst/>
          </a:prstGeom>
          <a:ln w="12700">
            <a:solidFill>
              <a:srgbClr val="E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93720" y="2926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200" b="0" i="0">
                <a:solidFill>
                  <a:srgbClr val="5B6275"/>
                </a:solidFill>
                <a:latin typeface="Calibri"/>
              </a:rPr>
              <a:t>14:00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46904" y="3200400"/>
            <a:ext cx="0" cy="2057400"/>
          </a:xfrm>
          <a:prstGeom prst="line">
            <a:avLst/>
          </a:prstGeom>
          <a:ln w="12700">
            <a:solidFill>
              <a:srgbClr val="E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81144" y="2926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200" b="0" i="0">
                <a:solidFill>
                  <a:srgbClr val="5B6275"/>
                </a:solidFill>
                <a:latin typeface="Calibri"/>
              </a:rPr>
              <a:t>14:20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34328" y="3200400"/>
            <a:ext cx="0" cy="2057400"/>
          </a:xfrm>
          <a:prstGeom prst="line">
            <a:avLst/>
          </a:prstGeom>
          <a:ln w="12700">
            <a:solidFill>
              <a:srgbClr val="E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68567" y="2926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200" b="0" i="0">
                <a:solidFill>
                  <a:srgbClr val="5B6275"/>
                </a:solidFill>
                <a:latin typeface="Calibri"/>
              </a:rPr>
              <a:t>14:40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310128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172243"/>
                </a:solidFill>
                <a:latin typeface="Arial Narrow"/>
              </a:rPr>
              <a:t>PF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72056" y="3246120"/>
            <a:ext cx="1115567" cy="329184"/>
          </a:xfrm>
          <a:prstGeom prst="roundRect">
            <a:avLst>
              <a:gd name="adj" fmla="val 15000"/>
            </a:avLst>
          </a:prstGeom>
          <a:solidFill>
            <a:srgbClr val="17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11214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87624" y="3246120"/>
            <a:ext cx="371856" cy="329184"/>
          </a:xfrm>
          <a:prstGeom prst="rect">
            <a:avLst/>
          </a:prstGeom>
          <a:pattFill prst="wdUpDiag">
            <a:fgClr>
              <a:srgbClr val="ED8076"/>
            </a:fgClr>
            <a:bgClr>
              <a:srgbClr val="FCE9E6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10737" y="3657600"/>
            <a:ext cx="743711" cy="329184"/>
          </a:xfrm>
          <a:prstGeom prst="roundRect">
            <a:avLst>
              <a:gd name="adj" fmla="val 15000"/>
            </a:avLst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11216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51934" y="3273552"/>
            <a:ext cx="2971800" cy="777240"/>
          </a:xfrm>
          <a:prstGeom prst="rect">
            <a:avLst/>
          </a:prstGeom>
          <a:solidFill>
            <a:srgbClr val="FFFFFF"/>
          </a:solidFill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D64545"/>
                </a:solidFill>
                <a:latin typeface="Calibri"/>
              </a:rPr>
              <a:t>GAP_VIOLATION</a:t>
            </a:r>
          </a:p>
          <a:p>
            <a:pPr algn="l"/>
            <a:r>
              <a:rPr sz="1300" b="0" i="0">
                <a:solidFill>
                  <a:srgbClr val="172243"/>
                </a:solidFill>
                <a:latin typeface="Calibri"/>
              </a:rPr>
              <a:t>clearance short by 2 min (55 + 5 − 58)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407408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172243"/>
                </a:solidFill>
                <a:latin typeface="Arial Narrow"/>
              </a:rPr>
              <a:t>PF 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18760" y="4343400"/>
            <a:ext cx="1115567" cy="329184"/>
          </a:xfrm>
          <a:prstGeom prst="roundRect">
            <a:avLst>
              <a:gd name="adj" fmla="val 15000"/>
            </a:avLst>
          </a:prstGeom>
          <a:solidFill>
            <a:srgbClr val="17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51214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34328" y="4343400"/>
            <a:ext cx="371855" cy="329184"/>
          </a:xfrm>
          <a:prstGeom prst="rect">
            <a:avLst/>
          </a:prstGeom>
          <a:pattFill prst="wdUpDiag">
            <a:fgClr>
              <a:srgbClr val="ED8076"/>
            </a:fgClr>
            <a:bgClr>
              <a:srgbClr val="FCE9E6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062472" y="4754880"/>
            <a:ext cx="743711" cy="329184"/>
          </a:xfrm>
          <a:prstGeom prst="roundRect">
            <a:avLst>
              <a:gd name="adj" fmla="val 15000"/>
            </a:avLst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51215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4370832"/>
            <a:ext cx="3569817" cy="777240"/>
          </a:xfrm>
          <a:prstGeom prst="rect">
            <a:avLst/>
          </a:prstGeom>
          <a:solidFill>
            <a:srgbClr val="FFFFFF"/>
          </a:solidFill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D64545"/>
                </a:solidFill>
                <a:latin typeface="Calibri"/>
              </a:rPr>
              <a:t>OVERLAP</a:t>
            </a:r>
          </a:p>
          <a:p>
            <a:pPr algn="l"/>
            <a:r>
              <a:rPr sz="1300" b="0" i="0">
                <a:solidFill>
                  <a:srgbClr val="172243"/>
                </a:solidFill>
                <a:latin typeface="Calibri"/>
              </a:rPr>
              <a:t>both at the platform 5 min · 10 min of reserved 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5513832"/>
            <a:ext cx="274320" cy="182880"/>
          </a:xfrm>
          <a:prstGeom prst="rect">
            <a:avLst/>
          </a:prstGeom>
          <a:solidFill>
            <a:srgbClr val="17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16152" y="544068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B6275"/>
                </a:solidFill>
                <a:latin typeface="Calibri"/>
              </a:rPr>
              <a:t>occupied [arr, dep)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46120" y="5513832"/>
            <a:ext cx="274320" cy="182880"/>
          </a:xfrm>
          <a:prstGeom prst="rect">
            <a:avLst/>
          </a:prstGeom>
          <a:pattFill prst="wdUpDiag">
            <a:fgClr>
              <a:srgbClr val="ED8076"/>
            </a:fgClr>
            <a:bgClr>
              <a:srgbClr val="FCE9E6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93592" y="54406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B6275"/>
                </a:solidFill>
                <a:latin typeface="Calibri"/>
              </a:rPr>
              <a:t>5-min clearance → reserved [arr, dep + gap)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833872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323F9D"/>
                </a:solidFill>
                <a:latin typeface="Calibri"/>
              </a:rPr>
              <a:t>Same answers as the station's own Excel answer key — found automatically.</a:t>
            </a:r>
          </a:p>
        </p:txBody>
      </p:sp>
      <p:sp>
        <p:nvSpPr>
          <p:cNvPr id="40" name="Algorithm card"/>
          <p:cNvSpPr/>
          <p:nvPr/>
        </p:nvSpPr>
        <p:spPr>
          <a:xfrm>
            <a:off x="640080" y="6583680"/>
            <a:ext cx="68122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68680" y="6693408"/>
            <a:ext cx="640080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ED8076"/>
                </a:solidFill>
                <a:latin typeface="Arial Narrow"/>
              </a:rPr>
              <a:t>THE ALGORITHM, PER PLATFORM</a:t>
            </a:r>
          </a:p>
        </p:txBody>
      </p:sp>
      <p:sp>
        <p:nvSpPr>
          <p:cNvPr id="42" name="Oval 41"/>
          <p:cNvSpPr/>
          <p:nvPr/>
        </p:nvSpPr>
        <p:spPr>
          <a:xfrm>
            <a:off x="868680" y="7168896"/>
            <a:ext cx="329184" cy="329184"/>
          </a:xfrm>
          <a:prstGeom prst="ellipse">
            <a:avLst/>
          </a:prstGeom>
          <a:solidFill>
            <a:srgbClr val="323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 Narrow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5880" y="7150608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172243"/>
                </a:solidFill>
                <a:latin typeface="Calibri"/>
              </a:rPr>
              <a:t>Turn every assigned train into an interval [arr, dep + gap).</a:t>
            </a:r>
          </a:p>
        </p:txBody>
      </p:sp>
      <p:sp>
        <p:nvSpPr>
          <p:cNvPr id="44" name="Oval 43"/>
          <p:cNvSpPr/>
          <p:nvPr/>
        </p:nvSpPr>
        <p:spPr>
          <a:xfrm>
            <a:off x="868680" y="7607808"/>
            <a:ext cx="329184" cy="329184"/>
          </a:xfrm>
          <a:prstGeom prst="ellipse">
            <a:avLst/>
          </a:prstGeom>
          <a:solidFill>
            <a:srgbClr val="323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 Narrow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758952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172243"/>
                </a:solidFill>
                <a:latin typeface="Calibri"/>
              </a:rPr>
              <a:t>Sort by arrival — O(n log n).</a:t>
            </a:r>
          </a:p>
        </p:txBody>
      </p:sp>
      <p:sp>
        <p:nvSpPr>
          <p:cNvPr id="46" name="Oval 45"/>
          <p:cNvSpPr/>
          <p:nvPr/>
        </p:nvSpPr>
        <p:spPr>
          <a:xfrm>
            <a:off x="868680" y="8046720"/>
            <a:ext cx="329184" cy="329184"/>
          </a:xfrm>
          <a:prstGeom prst="ellipse">
            <a:avLst/>
          </a:prstGeom>
          <a:solidFill>
            <a:srgbClr val="323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 Narrow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25880" y="8028432"/>
            <a:ext cx="5943600" cy="6217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172243"/>
                </a:solidFill>
                <a:latin typeface="Calibri"/>
              </a:rPr>
              <a:t>Sweep: compare each train with the ones after it; stop at the first arrival ≥ dep + gap. Every clashing pair is reported, not just neighbours.</a:t>
            </a:r>
          </a:p>
        </p:txBody>
      </p:sp>
      <p:sp>
        <p:nvSpPr>
          <p:cNvPr id="48" name="Oval 47"/>
          <p:cNvSpPr/>
          <p:nvPr/>
        </p:nvSpPr>
        <p:spPr>
          <a:xfrm>
            <a:off x="868680" y="8759952"/>
            <a:ext cx="329184" cy="329184"/>
          </a:xfrm>
          <a:prstGeom prst="ellipse">
            <a:avLst/>
          </a:prstGeom>
          <a:solidFill>
            <a:srgbClr val="323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 Narrow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25880" y="8741664"/>
            <a:ext cx="5943600" cy="6217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172243"/>
                </a:solidFill>
                <a:latin typeface="Calibri"/>
              </a:rPr>
              <a:t>Measure in minutes: stay = min(dep A, dep B) − arr B; reserved = min(dep A, dep B) + gap − arr B; shortfall = dep A + gap − arr B.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26679" y="2395728"/>
            <a:ext cx="576072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ED8076"/>
                </a:solidFill>
                <a:latin typeface="Arial Narrow"/>
              </a:rPr>
              <a:t>TEN RULES, CHECKED ON EVERY PLAN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26679" y="2852928"/>
            <a:ext cx="27889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7836407" y="2980944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V1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19" y="2898648"/>
            <a:ext cx="196596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0" i="0">
                <a:solidFill>
                  <a:srgbClr val="172243"/>
                </a:solidFill>
                <a:latin typeface="Calibri"/>
              </a:rPr>
              <a:t>Every timetable train exactly once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26679" y="3584448"/>
            <a:ext cx="27889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7836407" y="3712463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V2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19" y="3630168"/>
            <a:ext cx="196596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0" i="0">
                <a:solidFill>
                  <a:srgbClr val="172243"/>
                </a:solidFill>
                <a:latin typeface="Calibri"/>
              </a:rPr>
              <a:t>The platform exists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26679" y="4315968"/>
            <a:ext cx="27889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7836407" y="4443984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V3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19" y="4361688"/>
            <a:ext cx="196596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0" i="0">
                <a:solidFill>
                  <a:srgbClr val="172243"/>
                </a:solidFill>
                <a:latin typeface="Calibri"/>
              </a:rPr>
              <a:t>Required / allowed platform kept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26679" y="5047488"/>
            <a:ext cx="27889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ounded Rectangle 60"/>
          <p:cNvSpPr/>
          <p:nvPr/>
        </p:nvSpPr>
        <p:spPr>
          <a:xfrm>
            <a:off x="7836407" y="5175504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V4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03919" y="5093208"/>
            <a:ext cx="196596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0" i="0">
                <a:solidFill>
                  <a:srgbClr val="172243"/>
                </a:solidFill>
                <a:latin typeface="Calibri"/>
              </a:rPr>
              <a:t>Stay = dwell + departure delay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726679" y="5779008"/>
            <a:ext cx="27889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ounded Rectangle 63"/>
          <p:cNvSpPr/>
          <p:nvPr/>
        </p:nvSpPr>
        <p:spPr>
          <a:xfrm>
            <a:off x="7836407" y="5907024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V5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03919" y="5824728"/>
            <a:ext cx="196596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0" i="0">
                <a:solidFill>
                  <a:srgbClr val="172243"/>
                </a:solidFill>
                <a:latin typeface="Calibri"/>
              </a:rPr>
              <a:t>Never earlier than the delay allows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652759" y="2852928"/>
            <a:ext cx="27889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ounded Rectangle 66"/>
          <p:cNvSpPr/>
          <p:nvPr/>
        </p:nvSpPr>
        <p:spPr>
          <a:xfrm>
            <a:off x="10762487" y="2980944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V6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29999" y="2898648"/>
            <a:ext cx="196596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0" i="0">
                <a:solidFill>
                  <a:srgbClr val="172243"/>
                </a:solidFill>
                <a:latin typeface="Calibri"/>
              </a:rPr>
              <a:t>Hold within the 45-min limit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652759" y="3584448"/>
            <a:ext cx="27889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ounded Rectangle 69"/>
          <p:cNvSpPr/>
          <p:nvPr/>
        </p:nvSpPr>
        <p:spPr>
          <a:xfrm>
            <a:off x="10762487" y="3712463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V7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29999" y="3630168"/>
            <a:ext cx="196596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0" i="0">
                <a:solidFill>
                  <a:srgbClr val="172243"/>
                </a:solidFill>
                <a:latin typeface="Calibri"/>
              </a:rPr>
              <a:t>Departed or berthed trains stay put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652759" y="4315968"/>
            <a:ext cx="2788920" cy="621792"/>
          </a:xfrm>
          <a:prstGeom prst="roundRect">
            <a:avLst>
              <a:gd name="adj" fmla="val 12000"/>
            </a:avLst>
          </a:prstGeom>
          <a:solidFill>
            <a:srgbClr val="17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ounded Rectangle 72"/>
          <p:cNvSpPr/>
          <p:nvPr/>
        </p:nvSpPr>
        <p:spPr>
          <a:xfrm>
            <a:off x="10762487" y="4443984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ED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429999" y="4361688"/>
            <a:ext cx="196596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No overlap, clearance kept (sweep)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652759" y="5047488"/>
            <a:ext cx="2788920" cy="621792"/>
          </a:xfrm>
          <a:prstGeom prst="roundRect">
            <a:avLst>
              <a:gd name="adj" fmla="val 12000"/>
            </a:avLst>
          </a:prstGeom>
          <a:solidFill>
            <a:srgbClr val="17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ounded Rectangle 75"/>
          <p:cNvSpPr/>
          <p:nvPr/>
        </p:nvSpPr>
        <p:spPr>
          <a:xfrm>
            <a:off x="10762487" y="5175504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ED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429999" y="5093208"/>
            <a:ext cx="196596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No train inside a closure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652759" y="5779008"/>
            <a:ext cx="27889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ounded Rectangle 78"/>
          <p:cNvSpPr/>
          <p:nvPr/>
        </p:nvSpPr>
        <p:spPr>
          <a:xfrm>
            <a:off x="10762487" y="5907024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V10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429999" y="5824728"/>
            <a:ext cx="196596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0" i="0">
                <a:solidFill>
                  <a:srgbClr val="172243"/>
                </a:solidFill>
                <a:latin typeface="Calibri"/>
              </a:rPr>
              <a:t>Coaches / wagons fit the platform</a:t>
            </a:r>
          </a:p>
        </p:txBody>
      </p:sp>
      <p:sp>
        <p:nvSpPr>
          <p:cNvPr id="81" name="Independence"/>
          <p:cNvSpPr/>
          <p:nvPr/>
        </p:nvSpPr>
        <p:spPr>
          <a:xfrm>
            <a:off x="7726679" y="6583680"/>
            <a:ext cx="5760720" cy="3108960"/>
          </a:xfrm>
          <a:prstGeom prst="roundRect">
            <a:avLst>
              <a:gd name="adj" fmla="val 8000"/>
            </a:avLst>
          </a:prstGeom>
          <a:solidFill>
            <a:srgbClr val="172243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8001000" y="6711696"/>
            <a:ext cx="530352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ED8076"/>
                </a:solidFill>
                <a:latin typeface="Arial Narrow"/>
              </a:rPr>
              <a:t>WHY IT CANNOT BE FOOLED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01000" y="7150608"/>
            <a:ext cx="5349240" cy="2468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D8076"/>
                </a:solidFill>
                <a:latin typeface="Calibri"/>
              </a:rPr>
              <a:t>▸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Imports only the data models and Python's standard library — a test fails the build if that changes.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D8076"/>
                </a:solidFill>
                <a:latin typeface="Calibri"/>
              </a:rPr>
              <a:t>▸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Different algorithm from the planner: a sweep line, not CP-SAT constraints.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D8076"/>
                </a:solidFill>
                <a:latin typeface="Calibri"/>
              </a:rPr>
              <a:t>▸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The only source of the VALID badge; re-run on the hashed plan at Apply.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D8076"/>
                </a:solidFill>
                <a:latin typeface="Calibri"/>
              </a:rPr>
              <a:t>▸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Proven: 400 / 400 random plans checked; every injected planner fault caught (S5).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750048" cy="9860652"/>
          </a:xfrm>
          <a:custGeom>
            <a:avLst/>
            <a:gdLst/>
            <a:ahLst/>
            <a:cxnLst/>
            <a:rect r="r" b="b" t="t" l="l"/>
            <a:pathLst>
              <a:path h="9860652" w="1750048">
                <a:moveTo>
                  <a:pt x="0" y="0"/>
                </a:moveTo>
                <a:lnTo>
                  <a:pt x="1750048" y="0"/>
                </a:lnTo>
                <a:lnTo>
                  <a:pt x="1750048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046873"/>
            <a:ext cx="1312536" cy="3432644"/>
          </a:xfrm>
          <a:custGeom>
            <a:avLst/>
            <a:gdLst/>
            <a:ahLst/>
            <a:cxnLst/>
            <a:rect r="r" b="b" t="t" l="l"/>
            <a:pathLst>
              <a:path h="3432644" w="1312536">
                <a:moveTo>
                  <a:pt x="0" y="0"/>
                </a:moveTo>
                <a:lnTo>
                  <a:pt x="1312536" y="0"/>
                </a:lnTo>
                <a:lnTo>
                  <a:pt x="131253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059732" y="5455062"/>
            <a:ext cx="5228268" cy="4848336"/>
            <a:chOff x="0" y="0"/>
            <a:chExt cx="6971024" cy="64644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735464" y="1574206"/>
              <a:ext cx="2333397" cy="2303005"/>
            </a:xfrm>
            <a:custGeom>
              <a:avLst/>
              <a:gdLst/>
              <a:ahLst/>
              <a:cxnLst/>
              <a:rect r="r" b="b" t="t" l="l"/>
              <a:pathLst>
                <a:path h="2303005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122415"/>
              <a:ext cx="6971024" cy="4342033"/>
            </a:xfrm>
            <a:custGeom>
              <a:avLst/>
              <a:gdLst/>
              <a:ahLst/>
              <a:cxnLst/>
              <a:rect r="r" b="b" t="t" l="l"/>
              <a:pathLst>
                <a:path h="4342033" w="6971024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743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5220976" y="0"/>
              <a:ext cx="1750048" cy="5451418"/>
            </a:xfrm>
            <a:custGeom>
              <a:avLst/>
              <a:gdLst/>
              <a:ahLst/>
              <a:cxnLst/>
              <a:rect r="r" b="b" t="t" l="l"/>
              <a:pathLst>
                <a:path h="5451418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5451418"/>
                  </a:lnTo>
                  <a:lnTo>
                    <a:pt x="0" y="5451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862945" y="2122415"/>
              <a:ext cx="1472957" cy="3162988"/>
            </a:xfrm>
            <a:custGeom>
              <a:avLst/>
              <a:gdLst/>
              <a:ahLst/>
              <a:cxnLst/>
              <a:rect r="r" b="b" t="t" l="l"/>
              <a:pathLst>
                <a:path h="3162988" w="1472957">
                  <a:moveTo>
                    <a:pt x="0" y="0"/>
                  </a:moveTo>
                  <a:lnTo>
                    <a:pt x="1472957" y="0"/>
                  </a:lnTo>
                  <a:lnTo>
                    <a:pt x="1472957" y="3162989"/>
                  </a:lnTo>
                  <a:lnTo>
                    <a:pt x="0" y="3162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02920" y="201168"/>
            <a:ext cx="13350240" cy="914400"/>
          </a:xfrm>
          <a:prstGeom prst="rect">
            <a:avLst/>
          </a:prstGeom>
        </p:spPr>
        <p:txBody>
          <a:bodyPr anchor="t" rtlCol="false" tIns="0" lIns="0" bIns="0" rIns="0" wrap="none"/>
          <a:lstStyle/>
          <a:p>
            <a:pPr algn="l"/>
            <a:r>
              <a:rPr lang="en-US" b="true" sz="6000" spc="150">
                <a:solidFill>
                  <a:srgbClr val="172243"/>
                </a:solidFill>
                <a:latin typeface="Arial Narrow"/>
                <a:ea typeface="Arial Narrow"/>
                <a:cs typeface="Arial Narrow"/>
                <a:sym typeface="Arial Narrow"/>
              </a:rPr>
              <a:t>FEASIBILITY AND VIABILITY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57200" y="987552"/>
            <a:ext cx="5020450" cy="535667"/>
          </a:xfrm>
          <a:custGeom>
            <a:avLst/>
            <a:gdLst/>
            <a:ahLst/>
            <a:cxnLst/>
            <a:rect r="r" b="b" t="t" l="l"/>
            <a:pathLst>
              <a:path h="535667" w="5020450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t="0" r="-1125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923818" y="2160727"/>
            <a:ext cx="4364182" cy="2153601"/>
          </a:xfrm>
          <a:custGeom>
            <a:avLst/>
            <a:gdLst/>
            <a:ahLst/>
            <a:cxnLst/>
            <a:rect r="r" b="b" t="t" l="l"/>
            <a:pathLst>
              <a:path h="2153601" w="4364182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178937" y="216170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id="14" name="Rounded Rectangle 13"/>
          <p:cNvSpPr/>
          <p:nvPr/>
        </p:nvSpPr>
        <p:spPr>
          <a:xfrm>
            <a:off x="640080" y="1783080"/>
            <a:ext cx="30632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68680" y="1892807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600" b="1" i="0">
                <a:solidFill>
                  <a:srgbClr val="ED8076"/>
                </a:solidFill>
                <a:latin typeface="Arial Narrow"/>
              </a:rPr>
              <a:t>137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80360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automated backend tests,</a:t>
            </a:r>
          </a:p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all passing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200" y="1783080"/>
            <a:ext cx="30632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114800" y="1892807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600" b="1" i="0">
                <a:solidFill>
                  <a:srgbClr val="ED8076"/>
                </a:solidFill>
                <a:latin typeface="Arial Narrow"/>
              </a:rPr>
              <a:t>400 / 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880360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random disruption cases —</a:t>
            </a:r>
          </a:p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every plan proven valid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23360"/>
            <a:ext cx="30632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68680" y="4133088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600" b="1" i="0">
                <a:solidFill>
                  <a:srgbClr val="ED8076"/>
                </a:solidFill>
                <a:latin typeface="Arial Narrow"/>
              </a:rPr>
              <a:t>9 / 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120640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wrong AI readings caught</a:t>
            </a:r>
          </a:p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before reaching 'ready'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86200" y="4023360"/>
            <a:ext cx="30632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114800" y="4133088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600" b="1" i="0">
                <a:solidFill>
                  <a:srgbClr val="1E9E62"/>
                </a:solidFill>
                <a:latin typeface="Arial Narrow"/>
              </a:rPr>
              <a:t>₹0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120640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cloud cost · runs offline on</a:t>
            </a:r>
          </a:p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one laptop, no GPU</a:t>
            </a:r>
          </a:p>
        </p:txBody>
      </p:sp>
      <p:sp>
        <p:nvSpPr>
          <p:cNvPr id="26" name="Bench card"/>
          <p:cNvSpPr/>
          <p:nvPr/>
        </p:nvSpPr>
        <p:spPr>
          <a:xfrm>
            <a:off x="7269480" y="1783080"/>
            <a:ext cx="621792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98079" y="1901952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172243"/>
                </a:solidFill>
                <a:latin typeface="Arial Narrow"/>
              </a:rPr>
              <a:t>OPTIMISER vs GREEDY  ·  20 seeded peak-hour scenarios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7406640" y="2377440"/>
          <a:ext cx="2880360" cy="3520440"/>
        </p:xfrm>
        <a:graphic>
          <a:graphicData uri="http://schemas.openxmlformats.org/drawingml/2006/chart">
            <c:chart xmlns:c="http://schemas.openxmlformats.org/drawingml/2006/chart" r:id="rId12"/>
          </a:graphicData>
        </a:graphic>
      </p:graphicFrame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10469880" y="2377440"/>
          <a:ext cx="2880360" cy="3520440"/>
        </p:xfrm>
        <a:graphic>
          <a:graphicData uri="http://schemas.openxmlformats.org/drawingml/2006/chart">
            <c:chart xmlns:c="http://schemas.openxmlformats.org/drawingml/2006/chart" r:id="rId13"/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640080" y="6355080"/>
            <a:ext cx="41148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68680" y="649224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 i="0">
                <a:solidFill>
                  <a:srgbClr val="323F9D"/>
                </a:solidFill>
                <a:latin typeface="Calibri"/>
              </a:rPr>
              <a:t>Deployable today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6931152"/>
            <a:ext cx="3703320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5B6275"/>
                </a:solidFill>
                <a:latin typeface="Calibri"/>
              </a:rPr>
              <a:t>One laptop, fully offline. Judges' and staff phones join over the hotspot — no cloud, no GPU.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56048" y="6355080"/>
            <a:ext cx="41148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184648" y="649224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 i="0">
                <a:solidFill>
                  <a:srgbClr val="323F9D"/>
                </a:solidFill>
                <a:latin typeface="Calibri"/>
              </a:rPr>
              <a:t>Fits how stations 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4648" y="6931152"/>
            <a:ext cx="3703320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5B6275"/>
                </a:solidFill>
                <a:latin typeface="Calibri"/>
              </a:rPr>
              <a:t>Imports the working-timetable Excel; any station via template, JSON or typed in by hand.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72015" y="6355080"/>
            <a:ext cx="41148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500615" y="649224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 i="0">
                <a:solidFill>
                  <a:srgbClr val="7F5E87"/>
                </a:solidFill>
                <a:latin typeface="Calibri"/>
              </a:rPr>
              <a:t>Honest next steps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0615" y="6931152"/>
            <a:ext cx="3703320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5B6275"/>
                </a:solidFill>
                <a:latin typeface="Calibri"/>
              </a:rPr>
              <a:t>Route conflicts in the station throat (designed, measured), past-midnight trains, multi-station.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8321040"/>
            <a:ext cx="12435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172243"/>
                </a:solidFill>
                <a:latin typeface="Calibri"/>
              </a:rPr>
              <a:t>AI parser accuracy: </a:t>
            </a:r>
            <a:r>
              <a:rPr sz="1500" b="0" i="0">
                <a:solidFill>
                  <a:srgbClr val="172243"/>
                </a:solidFill>
                <a:latin typeface="Calibri"/>
              </a:rPr>
              <a:t>LLM 44/52 exact vs regex 36/52 on labelled messages; </a:t>
            </a:r>
            <a:r>
              <a:rPr sz="1500" b="0" i="0">
                <a:solidFill>
                  <a:srgbClr val="4E4A76"/>
                </a:solidFill>
                <a:latin typeface="Calibri"/>
              </a:rPr>
              <a:t>when Ollama is off, RailFlow falls back to regex + templates and still plans.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479517"/>
            <a:chOff x="0" y="0"/>
            <a:chExt cx="24384000" cy="13972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3397" cy="13147537"/>
            </a:xfrm>
            <a:custGeom>
              <a:avLst/>
              <a:gdLst/>
              <a:ahLst/>
              <a:cxnLst/>
              <a:rect r="r" b="b" t="t" l="l"/>
              <a:pathLst>
                <a:path h="13147537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9148440" y="8847622"/>
              <a:ext cx="2333397" cy="2303005"/>
            </a:xfrm>
            <a:custGeom>
              <a:avLst/>
              <a:gdLst/>
              <a:ahLst/>
              <a:cxnLst/>
              <a:rect r="r" b="b" t="t" l="l"/>
              <a:pathLst>
                <a:path h="2303005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7412976" y="9395831"/>
              <a:ext cx="6971024" cy="4342033"/>
            </a:xfrm>
            <a:custGeom>
              <a:avLst/>
              <a:gdLst/>
              <a:ahLst/>
              <a:cxnLst/>
              <a:rect r="r" b="b" t="t" l="l"/>
              <a:pathLst>
                <a:path h="4342033" w="6971024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743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9395831"/>
              <a:ext cx="1750048" cy="4576859"/>
            </a:xfrm>
            <a:custGeom>
              <a:avLst/>
              <a:gdLst/>
              <a:ahLst/>
              <a:cxnLst/>
              <a:rect r="r" b="b" t="t" l="l"/>
              <a:pathLst>
                <a:path h="4576859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2633952" y="7273416"/>
              <a:ext cx="1750048" cy="5451418"/>
            </a:xfrm>
            <a:custGeom>
              <a:avLst/>
              <a:gdLst/>
              <a:ahLst/>
              <a:cxnLst/>
              <a:rect r="r" b="b" t="t" l="l"/>
              <a:pathLst>
                <a:path h="5451418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2275922" y="9395831"/>
              <a:ext cx="1472957" cy="3162988"/>
            </a:xfrm>
            <a:custGeom>
              <a:avLst/>
              <a:gdLst/>
              <a:ahLst/>
              <a:cxnLst/>
              <a:rect r="r" b="b" t="t" l="l"/>
              <a:pathLst>
                <a:path h="3162988" w="1472957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02920" y="201168"/>
            <a:ext cx="13350240" cy="914400"/>
          </a:xfrm>
          <a:prstGeom prst="rect">
            <a:avLst/>
          </a:prstGeom>
        </p:spPr>
        <p:txBody>
          <a:bodyPr anchor="t" rtlCol="false" tIns="0" lIns="0" bIns="0" rIns="0" wrap="none"/>
          <a:lstStyle/>
          <a:p>
            <a:pPr algn="l"/>
            <a:r>
              <a:rPr lang="en-US" b="true" sz="6000" spc="150">
                <a:solidFill>
                  <a:srgbClr val="172243"/>
                </a:solidFill>
                <a:latin typeface="Arial Narrow"/>
                <a:ea typeface="Arial Narrow"/>
                <a:cs typeface="Arial Narrow"/>
                <a:sym typeface="Arial Narrow"/>
              </a:rPr>
              <a:t>IMPACT AND BENEFITS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84048" y="987552"/>
            <a:ext cx="5020450" cy="535667"/>
          </a:xfrm>
          <a:custGeom>
            <a:avLst/>
            <a:gdLst/>
            <a:ahLst/>
            <a:cxnLst/>
            <a:rect r="r" b="b" t="t" l="l"/>
            <a:pathLst>
              <a:path h="535667" w="5020450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t="0" r="-1125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923818" y="2160727"/>
            <a:ext cx="4364182" cy="2153601"/>
          </a:xfrm>
          <a:custGeom>
            <a:avLst/>
            <a:gdLst/>
            <a:ahLst/>
            <a:cxnLst/>
            <a:rect r="r" b="b" t="t" l="l"/>
            <a:pathLst>
              <a:path h="2153601" w="4364182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178937" y="216170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id="14" name="Rounded Rectangle 13"/>
          <p:cNvSpPr/>
          <p:nvPr/>
        </p:nvSpPr>
        <p:spPr>
          <a:xfrm>
            <a:off x="640080" y="1737360"/>
            <a:ext cx="7315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323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 Narrow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1901952"/>
            <a:ext cx="59436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172243"/>
                </a:solidFill>
                <a:latin typeface="Calibri"/>
              </a:rPr>
              <a:t>Controllers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340864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5B6275"/>
                </a:solidFill>
                <a:latin typeface="Calibri"/>
              </a:rPr>
              <a:t>From minutes of phone calls to a checked replan in seconds — every move arrives with its reason, ready to announce.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01568"/>
            <a:ext cx="7315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68680" y="3767328"/>
            <a:ext cx="731520" cy="731520"/>
          </a:xfrm>
          <a:prstGeom prst="ellipse">
            <a:avLst/>
          </a:prstGeom>
          <a:solidFill>
            <a:srgbClr val="ED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 Narrow"/>
              </a:rPr>
              <a:t>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566160"/>
            <a:ext cx="59436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172243"/>
                </a:solidFill>
                <a:latin typeface="Calibri"/>
              </a:rPr>
              <a:t>Passengers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005072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5B6275"/>
                </a:solidFill>
                <a:latin typeface="Calibri"/>
              </a:rPr>
              <a:t>Option B keeps platform changes to a minimum: fewer last-minute dashes across foot-over-bridges.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65776"/>
            <a:ext cx="7315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68680" y="5431536"/>
            <a:ext cx="731520" cy="731520"/>
          </a:xfrm>
          <a:prstGeom prst="ellipse">
            <a:avLst/>
          </a:prstGeom>
          <a:solidFill>
            <a:srgbClr val="7F5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 Narrow"/>
              </a:rPr>
              <a:t>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230368"/>
            <a:ext cx="59436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172243"/>
                </a:solidFill>
                <a:latin typeface="Calibri"/>
              </a:rPr>
              <a:t>Railway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6692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5B6275"/>
                </a:solidFill>
                <a:latin typeface="Calibri"/>
              </a:rPr>
              <a:t>Every confirm, plan, apply and refusal sits in a tamper-evident audit chain; admins audit, controllers act.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6729983"/>
            <a:ext cx="7315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68680" y="7095744"/>
            <a:ext cx="731520" cy="731520"/>
          </a:xfrm>
          <a:prstGeom prst="ellipse">
            <a:avLst/>
          </a:prstGeom>
          <a:solidFill>
            <a:srgbClr val="1E9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 Narrow"/>
              </a:rPr>
              <a:t>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6894575"/>
            <a:ext cx="59436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172243"/>
                </a:solidFill>
                <a:latin typeface="Calibri"/>
              </a:rPr>
              <a:t>Safety &amp; trust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7333488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5B6275"/>
                </a:solidFill>
                <a:latin typeface="Calibri"/>
              </a:rPr>
              <a:t>No plan reaches a platform unless an independent validator proved it conflict-free.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94192" y="1719072"/>
            <a:ext cx="5111496" cy="42874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reas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8200" y="1783080"/>
            <a:ext cx="4983480" cy="41594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458200" y="6116256"/>
            <a:ext cx="493776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ED8076"/>
                </a:solidFill>
                <a:latin typeface="Calibri"/>
              </a:rPr>
              <a:t>Every change explains itself: </a:t>
            </a:r>
            <a:r>
              <a:rPr sz="1500" b="0" i="0">
                <a:solidFill>
                  <a:srgbClr val="172243"/>
                </a:solidFill>
                <a:latin typeface="Calibri"/>
              </a:rPr>
              <a:t>cause, chain and checks.</a:t>
            </a:r>
          </a:p>
        </p:txBody>
      </p:sp>
      <p:sp>
        <p:nvSpPr>
          <p:cNvPr id="33" name="Tradeoff"/>
          <p:cNvSpPr/>
          <p:nvPr/>
        </p:nvSpPr>
        <p:spPr>
          <a:xfrm>
            <a:off x="8458200" y="6783768"/>
            <a:ext cx="4983480" cy="2011680"/>
          </a:xfrm>
          <a:prstGeom prst="roundRect">
            <a:avLst>
              <a:gd name="adj" fmla="val 8000"/>
            </a:avLst>
          </a:prstGeom>
          <a:solidFill>
            <a:srgbClr val="172243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686800" y="692092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ED8076"/>
                </a:solidFill>
                <a:latin typeface="Arial Narrow"/>
              </a:rPr>
              <a:t>S8 · THE CONTROLLER CHOOSES, INFORMED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7332408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Narrow"/>
              </a:rPr>
              <a:t>A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2 moves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weighted delay 76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7332408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000" b="1" i="0">
                <a:solidFill>
                  <a:srgbClr val="ED8076"/>
                </a:solidFill>
                <a:latin typeface="Arial Narrow"/>
              </a:rPr>
              <a:t>B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1 move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weighted delay 136</a:t>
            </a:r>
          </a:p>
        </p:txBody>
      </p:sp>
      <p:sp>
        <p:nvSpPr>
          <p:cNvPr id="37" name="Scale band"/>
          <p:cNvSpPr/>
          <p:nvPr/>
        </p:nvSpPr>
        <p:spPr>
          <a:xfrm>
            <a:off x="640080" y="8549640"/>
            <a:ext cx="7315200" cy="1143000"/>
          </a:xfrm>
          <a:prstGeom prst="roundRect">
            <a:avLst>
              <a:gd name="adj" fmla="val 8000"/>
            </a:avLst>
          </a:prstGeom>
          <a:solidFill>
            <a:srgbClr val="E9E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68680" y="8659368"/>
            <a:ext cx="6949440" cy="9601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323F9D"/>
                </a:solidFill>
                <a:latin typeface="Calibri"/>
              </a:rPr>
              <a:t>Beyond the demo: </a:t>
            </a:r>
            <a:r>
              <a:rPr sz="1500" b="0" i="0">
                <a:solidFill>
                  <a:srgbClr val="172243"/>
                </a:solidFill>
                <a:latin typeface="Calibri"/>
              </a:rPr>
              <a:t>any station via Excel / JSON template or manual entry · 3 languages · works on phone, tablet and desktop.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479517"/>
            <a:chOff x="0" y="0"/>
            <a:chExt cx="24384000" cy="13972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3397" cy="13147537"/>
            </a:xfrm>
            <a:custGeom>
              <a:avLst/>
              <a:gdLst/>
              <a:ahLst/>
              <a:cxnLst/>
              <a:rect r="r" b="b" t="t" l="l"/>
              <a:pathLst>
                <a:path h="13147537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9148440" y="8847622"/>
              <a:ext cx="2333397" cy="2303005"/>
            </a:xfrm>
            <a:custGeom>
              <a:avLst/>
              <a:gdLst/>
              <a:ahLst/>
              <a:cxnLst/>
              <a:rect r="r" b="b" t="t" l="l"/>
              <a:pathLst>
                <a:path h="2303005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7412976" y="9395831"/>
              <a:ext cx="6971024" cy="4342033"/>
            </a:xfrm>
            <a:custGeom>
              <a:avLst/>
              <a:gdLst/>
              <a:ahLst/>
              <a:cxnLst/>
              <a:rect r="r" b="b" t="t" l="l"/>
              <a:pathLst>
                <a:path h="4342033" w="6971024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743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9395831"/>
              <a:ext cx="1750048" cy="4576859"/>
            </a:xfrm>
            <a:custGeom>
              <a:avLst/>
              <a:gdLst/>
              <a:ahLst/>
              <a:cxnLst/>
              <a:rect r="r" b="b" t="t" l="l"/>
              <a:pathLst>
                <a:path h="4576859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2633952" y="7273416"/>
              <a:ext cx="1750048" cy="5451418"/>
            </a:xfrm>
            <a:custGeom>
              <a:avLst/>
              <a:gdLst/>
              <a:ahLst/>
              <a:cxnLst/>
              <a:rect r="r" b="b" t="t" l="l"/>
              <a:pathLst>
                <a:path h="5451418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2275922" y="9395831"/>
              <a:ext cx="1472957" cy="3162988"/>
            </a:xfrm>
            <a:custGeom>
              <a:avLst/>
              <a:gdLst/>
              <a:ahLst/>
              <a:cxnLst/>
              <a:rect r="r" b="b" t="t" l="l"/>
              <a:pathLst>
                <a:path h="3162988" w="1472957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02920" y="201168"/>
            <a:ext cx="13350240" cy="914400"/>
          </a:xfrm>
          <a:prstGeom prst="rect">
            <a:avLst/>
          </a:prstGeom>
        </p:spPr>
        <p:txBody>
          <a:bodyPr anchor="t" rtlCol="false" tIns="0" lIns="0" bIns="0" rIns="0" wrap="none"/>
          <a:lstStyle/>
          <a:p>
            <a:pPr algn="l"/>
            <a:r>
              <a:rPr lang="en-US" b="true" sz="6000" spc="150">
                <a:solidFill>
                  <a:srgbClr val="172243"/>
                </a:solidFill>
                <a:latin typeface="Arial Narrow"/>
                <a:ea typeface="Arial Narrow"/>
                <a:cs typeface="Arial Narrow"/>
                <a:sym typeface="Arial Narrow"/>
              </a:rPr>
              <a:t>DIFFERENTIATOR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84048" y="987552"/>
            <a:ext cx="5020450" cy="535667"/>
          </a:xfrm>
          <a:custGeom>
            <a:avLst/>
            <a:gdLst/>
            <a:ahLst/>
            <a:cxnLst/>
            <a:rect r="r" b="b" t="t" l="l"/>
            <a:pathLst>
              <a:path h="535667" w="5020450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t="0" r="-1125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923818" y="2160727"/>
            <a:ext cx="4364182" cy="2153601"/>
          </a:xfrm>
          <a:custGeom>
            <a:avLst/>
            <a:gdLst/>
            <a:ahLst/>
            <a:cxnLst/>
            <a:rect r="r" b="b" t="t" l="l"/>
            <a:pathLst>
              <a:path h="2153601" w="4364182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178937" y="216170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id="14" name="Compare table"/>
          <p:cNvSpPr/>
          <p:nvPr/>
        </p:nvSpPr>
        <p:spPr>
          <a:xfrm>
            <a:off x="640080" y="1783080"/>
            <a:ext cx="8778240" cy="5934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1947672"/>
            <a:ext cx="342900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172243"/>
                </a:solidFill>
                <a:latin typeface="Arial Narrow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947672"/>
            <a:ext cx="169164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500" b="1" i="0">
                <a:solidFill>
                  <a:srgbClr val="172243"/>
                </a:solidFill>
                <a:latin typeface="Arial Narrow"/>
              </a:rPr>
              <a:t>Phone + register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79" y="1947672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500" b="1" i="0">
                <a:solidFill>
                  <a:srgbClr val="172243"/>
                </a:solidFill>
                <a:latin typeface="Arial Narrow"/>
              </a:rPr>
              <a:t>Optimiser / chatbot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399" y="1856231"/>
            <a:ext cx="1508760" cy="5788152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18119" y="1947672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500" b="1" i="0">
                <a:solidFill>
                  <a:srgbClr val="1E9E62"/>
                </a:solidFill>
                <a:latin typeface="Arial Narrow"/>
              </a:rPr>
              <a:t>RailFlow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2633472"/>
            <a:ext cx="8503920" cy="0"/>
          </a:xfrm>
          <a:prstGeom prst="line">
            <a:avLst/>
          </a:prstGeom>
          <a:ln w="12700">
            <a:solidFill>
              <a:srgbClr val="EC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660904"/>
            <a:ext cx="342900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Finds every clash, with minutes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660904"/>
            <a:ext cx="16916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D64545"/>
                </a:solidFill>
                <a:latin typeface="Calibri"/>
              </a:rP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79" y="2660904"/>
            <a:ext cx="19202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C98A1B"/>
                </a:solidFill>
                <a:latin typeface="Calibri"/>
              </a:rPr>
              <a:t>Partly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19" y="2660904"/>
            <a:ext cx="14630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1E9E62"/>
                </a:solidFill>
                <a:latin typeface="Calibri"/>
              </a:rPr>
              <a:t>Yes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3346704"/>
            <a:ext cx="8503920" cy="0"/>
          </a:xfrm>
          <a:prstGeom prst="line">
            <a:avLst/>
          </a:prstGeom>
          <a:ln w="12700">
            <a:solidFill>
              <a:srgbClr val="EC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3374136"/>
            <a:ext cx="342900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Moves only the affected trains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374136"/>
            <a:ext cx="16916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C98A1B"/>
                </a:solidFill>
                <a:latin typeface="Calibri"/>
              </a:rPr>
              <a:t>Partly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79" y="3374136"/>
            <a:ext cx="19202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D64545"/>
                </a:solidFill>
                <a:latin typeface="Calibri"/>
              </a:rPr>
              <a:t>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19" y="3374136"/>
            <a:ext cx="14630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1E9E62"/>
                </a:solidFill>
                <a:latin typeface="Calibri"/>
              </a:rPr>
              <a:t>Yes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4059935"/>
            <a:ext cx="8503920" cy="0"/>
          </a:xfrm>
          <a:prstGeom prst="line">
            <a:avLst/>
          </a:prstGeom>
          <a:ln w="12700">
            <a:solidFill>
              <a:srgbClr val="EC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7240" y="4087368"/>
            <a:ext cx="342900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Independent proof each plan is valid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087368"/>
            <a:ext cx="16916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D64545"/>
                </a:solidFill>
                <a:latin typeface="Calibri"/>
              </a:rPr>
              <a:t>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79" y="4087368"/>
            <a:ext cx="19202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D64545"/>
                </a:solidFill>
                <a:latin typeface="Calibri"/>
              </a:rPr>
              <a:t>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19" y="4087368"/>
            <a:ext cx="14630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1E9E62"/>
                </a:solidFill>
                <a:latin typeface="Calibri"/>
              </a:rPr>
              <a:t>Yes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7240" y="4773168"/>
            <a:ext cx="8503920" cy="0"/>
          </a:xfrm>
          <a:prstGeom prst="line">
            <a:avLst/>
          </a:prstGeom>
          <a:ln w="12700">
            <a:solidFill>
              <a:srgbClr val="EC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77240" y="4800600"/>
            <a:ext cx="342900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AI can never assign a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4800600"/>
            <a:ext cx="16916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5B6275"/>
                </a:solidFill>
                <a:latin typeface="Calibri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79" y="4800600"/>
            <a:ext cx="19202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D64545"/>
                </a:solidFill>
                <a:latin typeface="Calibri"/>
              </a:rPr>
              <a:t>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19" y="4800600"/>
            <a:ext cx="14630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1E9E62"/>
                </a:solidFill>
                <a:latin typeface="Calibri"/>
              </a:rPr>
              <a:t>Yes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77240" y="5486400"/>
            <a:ext cx="8503920" cy="0"/>
          </a:xfrm>
          <a:prstGeom prst="line">
            <a:avLst/>
          </a:prstGeom>
          <a:ln w="12700">
            <a:solidFill>
              <a:srgbClr val="EC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77240" y="5513832"/>
            <a:ext cx="342900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Explains why each train moved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5513832"/>
            <a:ext cx="16916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C98A1B"/>
                </a:solidFill>
                <a:latin typeface="Calibri"/>
              </a:rPr>
              <a:t>Partly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79" y="5513832"/>
            <a:ext cx="19202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C98A1B"/>
                </a:solidFill>
                <a:latin typeface="Calibri"/>
              </a:rPr>
              <a:t>Partly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19" y="5513832"/>
            <a:ext cx="14630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1E9E62"/>
                </a:solidFill>
                <a:latin typeface="Calibri"/>
              </a:rPr>
              <a:t>Yes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77240" y="6199631"/>
            <a:ext cx="8503920" cy="0"/>
          </a:xfrm>
          <a:prstGeom prst="line">
            <a:avLst/>
          </a:prstGeom>
          <a:ln w="12700">
            <a:solidFill>
              <a:srgbClr val="EC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77240" y="6227064"/>
            <a:ext cx="342900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Voice · EN · हिं · मर · offline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6227064"/>
            <a:ext cx="16916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1E9E62"/>
                </a:solidFill>
                <a:latin typeface="Calibri"/>
              </a:rPr>
              <a:t>Yes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79" y="6227064"/>
            <a:ext cx="19202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D64545"/>
                </a:solidFill>
                <a:latin typeface="Calibri"/>
              </a:rPr>
              <a:t>No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19" y="6227064"/>
            <a:ext cx="14630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1E9E62"/>
                </a:solidFill>
                <a:latin typeface="Calibri"/>
              </a:rPr>
              <a:t>Yes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77240" y="6912864"/>
            <a:ext cx="8503920" cy="0"/>
          </a:xfrm>
          <a:prstGeom prst="line">
            <a:avLst/>
          </a:prstGeom>
          <a:ln w="12700">
            <a:solidFill>
              <a:srgbClr val="EC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77240" y="6940296"/>
            <a:ext cx="342900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Tamper-evident audit trail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06240" y="6940296"/>
            <a:ext cx="16916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D64545"/>
                </a:solidFill>
                <a:latin typeface="Calibri"/>
              </a:rPr>
              <a:t>No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97879" y="6940296"/>
            <a:ext cx="19202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D64545"/>
                </a:solidFill>
                <a:latin typeface="Calibri"/>
              </a:rPr>
              <a:t>No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18119" y="6940296"/>
            <a:ext cx="14630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1E9E62"/>
                </a:solidFill>
                <a:latin typeface="Calibri"/>
              </a:rPr>
              <a:t>Yes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857232" y="1764792"/>
            <a:ext cx="3374136" cy="403549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6" name="Picture 55" descr="faul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21240" y="1828800"/>
            <a:ext cx="3246120" cy="390747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921240" y="5937447"/>
            <a:ext cx="3657600" cy="1737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D8076"/>
                </a:solidFill>
                <a:latin typeface="Calibri"/>
              </a:rPr>
              <a:t>Our boldest demo: </a:t>
            </a:r>
            <a:r>
              <a:rPr sz="1500" b="1" i="0">
                <a:solidFill>
                  <a:srgbClr val="172243"/>
                </a:solidFill>
                <a:latin typeface="Calibri"/>
              </a:rPr>
              <a:t>we break our own planner, live.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72243"/>
                </a:solidFill>
                <a:latin typeface="Calibri"/>
              </a:rPr>
              <a:t>The validator catches the overlap — NOT VALID, Apply locked. Trust is proven, not promised.</a:t>
            </a:r>
          </a:p>
        </p:txBody>
      </p:sp>
      <p:sp>
        <p:nvSpPr>
          <p:cNvPr id="58" name="Punchline"/>
          <p:cNvSpPr/>
          <p:nvPr/>
        </p:nvSpPr>
        <p:spPr>
          <a:xfrm>
            <a:off x="640080" y="8001000"/>
            <a:ext cx="12893040" cy="1691640"/>
          </a:xfrm>
          <a:prstGeom prst="roundRect">
            <a:avLst>
              <a:gd name="adj" fmla="val 8000"/>
            </a:avLst>
          </a:prstGeom>
          <a:solidFill>
            <a:srgbClr val="172243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60120" y="8138160"/>
            <a:ext cx="12344400" cy="1417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We don't ask anyone to trust the AI or the optimiser. </a:t>
            </a:r>
            <a:r>
              <a:rPr sz="2200" b="1" i="0">
                <a:solidFill>
                  <a:srgbClr val="ED8076"/>
                </a:solidFill>
                <a:latin typeface="Calibri"/>
              </a:rPr>
              <a:t>Every plan is proven before it touches a platform — and the AI only listens and explains.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0" y="4711687"/>
            <a:ext cx="6540804" cy="5148966"/>
          </a:xfrm>
          <a:custGeom>
            <a:avLst/>
            <a:gdLst/>
            <a:ahLst/>
            <a:cxnLst/>
            <a:rect r="r" b="b" t="t" l="l"/>
            <a:pathLst>
              <a:path h="5148966" w="6540804">
                <a:moveTo>
                  <a:pt x="0" y="0"/>
                </a:moveTo>
                <a:lnTo>
                  <a:pt x="6540804" y="0"/>
                </a:lnTo>
                <a:lnTo>
                  <a:pt x="6540804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7175196" y="6854356"/>
            <a:ext cx="4364182" cy="3006296"/>
          </a:xfrm>
          <a:custGeom>
            <a:avLst/>
            <a:gdLst/>
            <a:ahLst/>
            <a:cxnLst/>
            <a:rect r="r" b="b" t="t" l="l"/>
            <a:pathLst>
              <a:path h="3006296" w="4364182">
                <a:moveTo>
                  <a:pt x="0" y="0"/>
                </a:moveTo>
                <a:lnTo>
                  <a:pt x="4364182" y="0"/>
                </a:lnTo>
                <a:lnTo>
                  <a:pt x="436418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9789330" y="7499343"/>
            <a:ext cx="8498670" cy="2361309"/>
          </a:xfrm>
          <a:custGeom>
            <a:avLst/>
            <a:gdLst/>
            <a:ahLst/>
            <a:cxnLst/>
            <a:rect r="r" b="b" t="t" l="l"/>
            <a:pathLst>
              <a:path h="2361309" w="8498670">
                <a:moveTo>
                  <a:pt x="0" y="0"/>
                </a:moveTo>
                <a:lnTo>
                  <a:pt x="8498670" y="0"/>
                </a:lnTo>
                <a:lnTo>
                  <a:pt x="849867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0" y="7280704"/>
            <a:ext cx="16986402" cy="2798589"/>
          </a:xfrm>
          <a:custGeom>
            <a:avLst/>
            <a:gdLst/>
            <a:ahLst/>
            <a:cxnLst/>
            <a:rect r="r" b="b" t="t" l="l"/>
            <a:pathLst>
              <a:path h="2798589" w="16986402">
                <a:moveTo>
                  <a:pt x="0" y="0"/>
                </a:moveTo>
                <a:lnTo>
                  <a:pt x="16986402" y="0"/>
                </a:lnTo>
                <a:lnTo>
                  <a:pt x="1698640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301598" y="6635716"/>
            <a:ext cx="1312536" cy="3443576"/>
          </a:xfrm>
          <a:custGeom>
            <a:avLst/>
            <a:gdLst/>
            <a:ahLst/>
            <a:cxnLst/>
            <a:rect r="r" b="b" t="t" l="l"/>
            <a:pathLst>
              <a:path h="3443576" w="131253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2176622" y="5990729"/>
            <a:ext cx="1531292" cy="4088563"/>
          </a:xfrm>
          <a:custGeom>
            <a:avLst/>
            <a:gdLst/>
            <a:ahLst/>
            <a:cxnLst/>
            <a:rect r="r" b="b" t="t" l="l"/>
            <a:pathLst>
              <a:path h="4088563" w="1531292">
                <a:moveTo>
                  <a:pt x="0" y="0"/>
                </a:moveTo>
                <a:lnTo>
                  <a:pt x="1531292" y="0"/>
                </a:lnTo>
                <a:lnTo>
                  <a:pt x="1531292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2840976" y="6635716"/>
            <a:ext cx="1312536" cy="3443576"/>
          </a:xfrm>
          <a:custGeom>
            <a:avLst/>
            <a:gdLst/>
            <a:ahLst/>
            <a:cxnLst/>
            <a:rect r="r" b="b" t="t" l="l"/>
            <a:pathLst>
              <a:path h="3443576" w="131253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13923818" y="7280704"/>
            <a:ext cx="1104718" cy="2579949"/>
          </a:xfrm>
          <a:custGeom>
            <a:avLst/>
            <a:gdLst/>
            <a:ahLst/>
            <a:cxnLst/>
            <a:rect r="r" b="b" t="t" l="l"/>
            <a:pathLst>
              <a:path h="2579949" w="1104718">
                <a:moveTo>
                  <a:pt x="0" y="0"/>
                </a:moveTo>
                <a:lnTo>
                  <a:pt x="1104718" y="0"/>
                </a:lnTo>
                <a:lnTo>
                  <a:pt x="1104718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0" y="9423373"/>
            <a:ext cx="18288000" cy="863627"/>
          </a:xfrm>
          <a:custGeom>
            <a:avLst/>
            <a:gdLst/>
            <a:ahLst/>
            <a:cxnLst/>
            <a:rect r="r" b="b" t="t" l="l"/>
            <a:pathLst>
              <a:path h="863627" w="18288000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3200400" y="3063240"/>
            <a:ext cx="11887200" cy="2194560"/>
          </a:xfrm>
          <a:prstGeom prst="rect">
            <a:avLst/>
          </a:prstGeom>
        </p:spPr>
        <p:txBody>
          <a:bodyPr anchor="t" rtlCol="false" tIns="0" lIns="0" bIns="0" rIns="0" wrap="none"/>
          <a:lstStyle/>
          <a:p>
            <a:pPr algn="ctr">
              <a:lnSpc>
                <a:spcPts val="14129"/>
              </a:lnSpc>
            </a:pPr>
            <a:r>
              <a:rPr lang="en-US" b="true" sz="14129" spc="282">
                <a:solidFill>
                  <a:srgbClr val="141D40"/>
                </a:solidFill>
                <a:latin typeface="Arial Narrow"/>
                <a:ea typeface="Arial Narrow"/>
                <a:cs typeface="Arial Narrow"/>
                <a:sym typeface="Arial Narrow"/>
              </a:rPr>
              <a:t>THANK YOU!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259464" y="5459607"/>
            <a:ext cx="11769072" cy="218640"/>
          </a:xfrm>
          <a:custGeom>
            <a:avLst/>
            <a:gdLst/>
            <a:ahLst/>
            <a:cxnLst/>
            <a:rect r="r" b="b" t="t" l="l"/>
            <a:pathLst>
              <a:path h="218640" w="11769072">
                <a:moveTo>
                  <a:pt x="0" y="0"/>
                </a:moveTo>
                <a:lnTo>
                  <a:pt x="11769072" y="0"/>
                </a:lnTo>
                <a:lnTo>
                  <a:pt x="1176907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4" id="14"/>
          <p:cNvSpPr txBox="true"/>
          <p:nvPr/>
        </p:nvSpPr>
        <p:spPr>
          <a:xfrm rot="0">
            <a:off x="5029200" y="5806440"/>
            <a:ext cx="8229600" cy="822960"/>
          </a:xfrm>
          <a:prstGeom prst="rect">
            <a:avLst/>
          </a:prstGeom>
        </p:spPr>
        <p:txBody>
          <a:bodyPr anchor="t" rtlCol="false" tIns="0" lIns="0" bIns="0" rIns="0" wrap="none"/>
          <a:lstStyle/>
          <a:p>
            <a:pPr algn="ctr">
              <a:lnSpc>
                <a:spcPts val="5554"/>
              </a:lnSpc>
            </a:pPr>
            <a:r>
              <a:rPr lang="en-US" b="true" sz="5554" spc="276">
                <a:solidFill>
                  <a:srgbClr val="323F9D"/>
                </a:solidFill>
                <a:latin typeface="Arial Narrow"/>
                <a:ea typeface="Arial Narrow"/>
                <a:cs typeface="Arial Narrow"/>
                <a:sym typeface="Arial Narrow"/>
              </a:rPr>
              <a:t>VORTEXA 3.0  ·  </a:t>
            </a:r>
            <a:r>
              <a:rPr sz="5554" b="1">
                <a:solidFill>
                  <a:srgbClr val="ED8076"/>
                </a:solidFill>
                <a:latin typeface="Arial Narrow"/>
              </a:rPr>
              <a:t>AIRS</a:t>
            </a:r>
          </a:p>
        </p:txBody>
      </p:sp>
      <p:sp>
        <p:nvSpPr>
          <p:cNvPr name="TextBox 16" id="16"/>
          <p:cNvSpPr txBox="true"/>
          <p:nvPr/>
        </p:nvSpPr>
        <p:spPr>
          <a:xfrm rot="-769921">
            <a:off x="14904720" y="4526280"/>
            <a:ext cx="3108960" cy="1463040"/>
          </a:xfrm>
          <a:prstGeom prst="rect">
            <a:avLst/>
          </a:prstGeom>
        </p:spPr>
        <p:txBody>
          <a:bodyPr anchor="t" rtlCol="false" tIns="0" lIns="0" bIns="0" rIns="0" wrap="none"/>
          <a:lstStyle/>
          <a:p>
            <a:pPr algn="ctr">
              <a:lnSpc>
                <a:spcPts val="6255"/>
              </a:lnSpc>
            </a:pPr>
            <a:r>
              <a:rPr lang="en-US" sz="4400">
                <a:solidFill>
                  <a:srgbClr val="ED8076"/>
                </a:solidFill>
                <a:latin typeface="Arial Narrow"/>
                <a:ea typeface="Arial Narrow"/>
                <a:cs typeface="Arial Narrow"/>
                <a:sym typeface="Arial Narrow"/>
              </a:rPr>
              <a:t>Game’s</a:t>
            </a:r>
          </a:p>
          <a:p>
            <a:pPr algn="ctr">
              <a:lnSpc>
                <a:spcPts val="6255"/>
              </a:lnSpc>
            </a:pPr>
            <a:r>
              <a:rPr lang="en-US" sz="4400">
                <a:solidFill>
                  <a:srgbClr val="ED8076"/>
                </a:solidFill>
                <a:latin typeface="Arial Narrow"/>
                <a:ea typeface="Arial Narrow"/>
                <a:cs typeface="Arial Narrow"/>
                <a:sym typeface="Arial Narrow"/>
              </a:rPr>
              <a:t>Still 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5892622" y="5998497"/>
            <a:ext cx="2187560" cy="1082267"/>
          </a:xfrm>
          <a:custGeom>
            <a:avLst/>
            <a:gdLst/>
            <a:ahLst/>
            <a:cxnLst/>
            <a:rect r="r" b="b" t="t" l="l"/>
            <a:pathLst>
              <a:path h="1082267" w="2187560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16178937" y="216170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9" name="Team line"/>
          <p:cNvSpPr txBox="1"/>
          <p:nvPr/>
        </p:nvSpPr>
        <p:spPr>
          <a:xfrm>
            <a:off x="3657600" y="1554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2200" b="1" i="0">
                <a:solidFill>
                  <a:srgbClr val="172243"/>
                </a:solidFill>
                <a:latin typeface="Calibri"/>
              </a:rPr>
              <a:t>Team Runtime Renegades</a:t>
            </a:r>
            <a:r>
              <a:rPr sz="2200" b="0" i="0">
                <a:solidFill>
                  <a:srgbClr val="4E4A76"/>
                </a:solidFill>
                <a:latin typeface="Calibri"/>
              </a:rPr>
              <a:t>   ·   VTX26-92646   ·   P-03 RailFlow</a:t>
            </a:r>
          </a:p>
        </p:txBody>
      </p:sp>
      <p:sp>
        <p:nvSpPr>
          <p:cNvPr id="20" name="Repo"/>
          <p:cNvSpPr txBox="1"/>
          <p:nvPr/>
        </p:nvSpPr>
        <p:spPr>
          <a:xfrm>
            <a:off x="3657600" y="21031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800" b="0" i="0">
                <a:solidFill>
                  <a:srgbClr val="323F9D"/>
                </a:solidFill>
                <a:latin typeface="Calibri"/>
              </a:rPr>
              <a:t>github.com/Gurjas2112/RailFlow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DAHXr7I3BNw</dc:identifier>
  <dcterms:modified xsi:type="dcterms:W3CDTF">2011-08-01T06:04:30Z</dcterms:modified>
  <cp:revision>1</cp:revision>
  <dc:title>VORTEXA 3.0 Hackathon</dc:title>
</cp:coreProperties>
</file>