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Arial Narrow" panose="020B0606020202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2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as Gandhi" userId="3f463f552a7586f7" providerId="LiveId" clId="{14C03CCE-C425-48ED-8115-8F585CC21459}"/>
    <pc:docChg chg="custSel modSld">
      <pc:chgData name="Gurjas Gandhi" userId="3f463f552a7586f7" providerId="LiveId" clId="{14C03CCE-C425-48ED-8115-8F585CC21459}" dt="2026-10-11T14:29:41.063" v="1" actId="21"/>
      <pc:docMkLst>
        <pc:docMk/>
      </pc:docMkLst>
      <pc:sldChg chg="delSp mod">
        <pc:chgData name="Gurjas Gandhi" userId="3f463f552a7586f7" providerId="LiveId" clId="{14C03CCE-C425-48ED-8115-8F585CC21459}" dt="2026-10-11T14:29:41.063" v="1" actId="21"/>
        <pc:sldMkLst>
          <pc:docMk/>
          <pc:sldMk cId="0" sldId="263"/>
        </pc:sldMkLst>
        <pc:spChg chg="del">
          <ac:chgData name="Gurjas Gandhi" userId="3f463f552a7586f7" providerId="LiveId" clId="{14C03CCE-C425-48ED-8115-8F585CC21459}" dt="2026-10-11T14:29:37.440" v="0" actId="21"/>
          <ac:spMkLst>
            <pc:docMk/>
            <pc:sldMk cId="0" sldId="263"/>
            <ac:spMk id="19" creationId="{00000000-0000-0000-0000-000000000000}"/>
          </ac:spMkLst>
        </pc:spChg>
        <pc:spChg chg="del">
          <ac:chgData name="Gurjas Gandhi" userId="3f463f552a7586f7" providerId="LiveId" clId="{14C03CCE-C425-48ED-8115-8F585CC21459}" dt="2026-10-11T14:29:41.063" v="1" actId="21"/>
          <ac:spMkLst>
            <pc:docMk/>
            <pc:sldMk cId="0" sldId="263"/>
            <ac:spMk id="2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400" b="1">
                <a:solidFill>
                  <a:srgbClr val="172243"/>
                </a:solidFill>
                <a:latin typeface="Calibri"/>
              </a:rPr>
              <a:t>Weighted delay  (−17%)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delay  (−17%)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9B4CC"/>
              </a:solidFill>
            </c:spPr>
            <c:extLst>
              <c:ext xmlns:c16="http://schemas.microsoft.com/office/drawing/2014/chart" uri="{C3380CC4-5D6E-409C-BE32-E72D297353CC}">
                <c16:uniqueId val="{00000001-375D-4BE3-9050-58868996A104}"/>
              </c:ext>
            </c:extLst>
          </c:dPt>
          <c:dPt>
            <c:idx val="1"/>
            <c:invertIfNegative val="1"/>
            <c:bubble3D val="0"/>
            <c:spPr>
              <a:solidFill>
                <a:srgbClr val="323F9D"/>
              </a:solidFill>
            </c:spPr>
            <c:extLst>
              <c:ext xmlns:c16="http://schemas.microsoft.com/office/drawing/2014/chart" uri="{C3380CC4-5D6E-409C-BE32-E72D297353CC}">
                <c16:uniqueId val="{00000003-375D-4BE3-9050-58868996A1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72243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Greedy</c:v>
                </c:pt>
                <c:pt idx="1">
                  <c:v>RailFlow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1847</c:v>
                </c:pt>
                <c:pt idx="1">
                  <c:v>1526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5D-4BE3-9050-58868996A1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6E3"/>
            </a:solidFill>
          </a:ln>
        </c:spPr>
        <c:txPr>
          <a:bodyPr/>
          <a:lstStyle/>
          <a:p>
            <a:pPr>
              <a:defRPr sz="1300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400" b="1">
                <a:solidFill>
                  <a:srgbClr val="172243"/>
                </a:solidFill>
                <a:latin typeface="Calibri"/>
              </a:rPr>
              <a:t>Platform changes  (−73%)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changes  (−73%)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9B4CC"/>
              </a:solidFill>
            </c:spPr>
            <c:extLst>
              <c:ext xmlns:c16="http://schemas.microsoft.com/office/drawing/2014/chart" uri="{C3380CC4-5D6E-409C-BE32-E72D297353CC}">
                <c16:uniqueId val="{00000001-112A-4876-9D6D-7044AD67A7D8}"/>
              </c:ext>
            </c:extLst>
          </c:dPt>
          <c:dPt>
            <c:idx val="1"/>
            <c:invertIfNegative val="1"/>
            <c:bubble3D val="0"/>
            <c:spPr>
              <a:solidFill>
                <a:srgbClr val="ED8076"/>
              </a:solidFill>
            </c:spPr>
            <c:extLst>
              <c:ext xmlns:c16="http://schemas.microsoft.com/office/drawing/2014/chart" uri="{C3380CC4-5D6E-409C-BE32-E72D297353CC}">
                <c16:uniqueId val="{00000003-112A-4876-9D6D-7044AD67A7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72243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Greedy</c:v>
                </c:pt>
                <c:pt idx="1">
                  <c:v>RailFlow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2A-4876-9D6D-7044AD67A7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6E3"/>
            </a:solidFill>
          </a:ln>
        </c:spPr>
        <c:txPr>
          <a:bodyPr/>
          <a:lstStyle/>
          <a:p>
            <a:pPr>
              <a:defRPr sz="1300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hart" Target="../charts/chart2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57200" y="2103120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Wordmark"/>
          <p:cNvSpPr txBox="1"/>
          <p:nvPr/>
        </p:nvSpPr>
        <p:spPr>
          <a:xfrm>
            <a:off x="566928" y="201168"/>
            <a:ext cx="868680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800" b="1" i="0">
                <a:solidFill>
                  <a:srgbClr val="3C3B56"/>
                </a:solidFill>
                <a:latin typeface="Arial Narrow"/>
              </a:rPr>
              <a:t>VORTEXA </a:t>
            </a:r>
            <a:r>
              <a:rPr sz="12800" b="1" i="0">
                <a:solidFill>
                  <a:srgbClr val="7F5E87"/>
                </a:solidFill>
                <a:latin typeface="Arial Narrow"/>
              </a:rPr>
              <a:t>3.0</a:t>
            </a:r>
          </a:p>
        </p:txBody>
      </p:sp>
      <p:sp>
        <p:nvSpPr>
          <p:cNvPr id="20" name="Event line"/>
          <p:cNvSpPr txBox="1"/>
          <p:nvPr/>
        </p:nvSpPr>
        <p:spPr>
          <a:xfrm>
            <a:off x="640080" y="245059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3F3F3F"/>
                </a:solidFill>
                <a:latin typeface="Calibri"/>
              </a:rPr>
              <a:t>12-HOUR HACKATHON</a:t>
            </a:r>
            <a:r>
              <a:rPr sz="1500" b="0" i="0">
                <a:solidFill>
                  <a:srgbClr val="4E4A76"/>
                </a:solidFill>
                <a:latin typeface="Calibri"/>
              </a:rPr>
              <a:t>   ·   POWERED BY A.I.R.S  ·  DR. D. Y. PATIL INSTITUTE OF TECHNOLOGY, PIMPRI</a:t>
            </a:r>
          </a:p>
        </p:txBody>
      </p:sp>
      <p:sp>
        <p:nvSpPr>
          <p:cNvPr id="21" name="Team card"/>
          <p:cNvSpPr/>
          <p:nvPr/>
        </p:nvSpPr>
        <p:spPr>
          <a:xfrm>
            <a:off x="640080" y="3154680"/>
            <a:ext cx="612648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364992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DOMAIN &amp; PS 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66744"/>
            <a:ext cx="5669280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6 · Public Systems &amp; Civic Technology  ·  P-03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5669280" cy="8138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RailFlow: Railway Disruption &amp; Platform Conflict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8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5669280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Runtime Renegades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63056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64808"/>
            <a:ext cx="5669280" cy="5394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VTX26-92646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04304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306056"/>
            <a:ext cx="5669280" cy="9784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172243"/>
                </a:solidFill>
                <a:latin typeface="Calibri"/>
              </a:rPr>
              <a:t>Gurjas Singh Gandhi (Leader)  ·  Aaditi Choramle</a:t>
            </a:r>
          </a:p>
          <a:p>
            <a:pPr algn="l"/>
            <a:r>
              <a:rPr sz="1600" b="0" i="0">
                <a:solidFill>
                  <a:srgbClr val="172243"/>
                </a:solidFill>
                <a:latin typeface="Calibri"/>
              </a:rPr>
              <a:t>MCA, P.E.S. Modern College of Engineering, Pune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5472" y="3182112"/>
            <a:ext cx="6711696" cy="3829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hero_fu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3246120"/>
            <a:ext cx="6583680" cy="3701512"/>
          </a:xfrm>
          <a:prstGeom prst="rect">
            <a:avLst/>
          </a:prstGeom>
        </p:spPr>
      </p:pic>
      <p:sp>
        <p:nvSpPr>
          <p:cNvPr id="34" name="Thesis"/>
          <p:cNvSpPr txBox="1"/>
          <p:nvPr/>
        </p:nvSpPr>
        <p:spPr>
          <a:xfrm>
            <a:off x="7269480" y="7240240"/>
            <a:ext cx="658368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i="0">
                <a:solidFill>
                  <a:srgbClr val="172243"/>
                </a:solidFill>
                <a:latin typeface="Calibri"/>
              </a:rPr>
              <a:t>The planner may be wrong. </a:t>
            </a:r>
            <a:r>
              <a:rPr sz="1900" b="1" i="0">
                <a:solidFill>
                  <a:srgbClr val="323F9D"/>
                </a:solidFill>
                <a:latin typeface="Calibri"/>
              </a:rPr>
              <a:t>The validator cannot be fooled.</a:t>
            </a:r>
          </a:p>
          <a:p>
            <a:pPr algn="l"/>
            <a:r>
              <a:rPr sz="1900" b="1" i="0">
                <a:solidFill>
                  <a:srgbClr val="ED8076"/>
                </a:solidFill>
                <a:latin typeface="Calibri"/>
              </a:rPr>
              <a:t>The AI never touches a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172243"/>
                </a:solidFill>
                <a:latin typeface="Calibri"/>
              </a:rPr>
              <a:t>At an Indian junction, one late train rarely stays one late train </a:t>
            </a:r>
            <a:r>
              <a:rPr sz="2200" b="0" i="0">
                <a:solidFill>
                  <a:srgbClr val="4E4A76"/>
                </a:solidFill>
                <a:latin typeface="Calibri"/>
              </a:rPr>
              <a:t>— and it is replanned by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271576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79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One delay becomes 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17296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A train running 30 min late holds its platform; the trains due there next are blocked and the delay spreads down the timetable.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42316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52360" y="271576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9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Replanned by phone and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7296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Station masters and section controllers rework platforms over radio and phone, with registers, while the clock keeps running.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95604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9194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Too many rules to juggle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41324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Minimum clearance between trains, 24–26-coach rakes vs short platforms, MEMU-only bays, goods loops, maintenance blocks.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4663440"/>
            <a:ext cx="6309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52360" y="4956048"/>
            <a:ext cx="658368" cy="658368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194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 i="0">
                <a:solidFill>
                  <a:srgbClr val="172243"/>
                </a:solidFill>
                <a:latin typeface="Calibri"/>
              </a:rPr>
              <a:t>A missed clash reaches the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41324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5B6275"/>
                </a:solidFill>
                <a:latin typeface="Calibri"/>
              </a:rPr>
              <a:t>Manual checks miss a 2-minute gap; late platform switches send crowds across foot-over-bridges.</a:t>
            </a:r>
          </a:p>
        </p:txBody>
      </p:sp>
      <p:sp>
        <p:nvSpPr>
          <p:cNvPr id="31" name="PS asks"/>
          <p:cNvSpPr/>
          <p:nvPr/>
        </p:nvSpPr>
        <p:spPr>
          <a:xfrm>
            <a:off x="640080" y="7022592"/>
            <a:ext cx="12847320" cy="224028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7187184"/>
            <a:ext cx="12344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ED8076"/>
                </a:solidFill>
                <a:latin typeface="Arial Narrow"/>
              </a:rPr>
              <a:t>WHAT P-03 ASKS FOR  —  AND WHAT RAILFLOW DELIVERS, ALL FIVE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69924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ASSIGN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8138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No platform double-booked; every gap kept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769924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8138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Each conflict reported by train &amp;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8736" y="769924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REPLAN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8736" y="8138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Delays &amp; closures, with a reason per change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769924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8138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Independent check; never 'valid' when not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3072" y="769924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7FD8A8"/>
                </a:solidFill>
                <a:latin typeface="Arial Narrow"/>
              </a:rPr>
              <a:t>✓ </a:t>
            </a:r>
            <a:r>
              <a:rPr sz="2000" b="1" i="0">
                <a:solidFill>
                  <a:srgbClr val="FFFFFF"/>
                </a:solidFill>
                <a:latin typeface="Arial Narrow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63072" y="81381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E6E9F2"/>
                </a:solidFill>
                <a:latin typeface="Calibri"/>
              </a:rPr>
              <a:t>Text → delays &amp; closures; explains trade-offs; never assigns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SOLUTION: RAILFLOW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172243"/>
                </a:solidFill>
                <a:latin typeface="Calibri"/>
              </a:rPr>
              <a:t>Speak or type the disruption. </a:t>
            </a:r>
            <a:r>
              <a:rPr sz="2400" b="1" i="0">
                <a:solidFill>
                  <a:srgbClr val="323F9D"/>
                </a:solidFill>
                <a:latin typeface="Calibri"/>
              </a:rPr>
              <a:t>Get a replan that is proven conflict-free —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1518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4612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Radio clip, typing or the + delay / + closure forms · EN · हिं · मर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55263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56432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3944" y="261518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AI PROPOSES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24612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Local LLM turns words into delays &amp; closures, each linked to its source words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69279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70448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6071616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61518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HUMAN CONFIRMS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324612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Unknown trains are rejected, never guessed; the controller signs off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84464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85632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0" y="2560320"/>
            <a:ext cx="548640" cy="54864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1" y="261518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OPTIMISE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4612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OR-Tools CP-SAT: A = least delay, B = fewest platform changes, plus a greedy baseline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899648" y="3364992"/>
            <a:ext cx="182880" cy="329184"/>
          </a:xfrm>
          <a:prstGeom prst="rightArrow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1100815" y="2395728"/>
            <a:ext cx="23957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301984" y="2560320"/>
            <a:ext cx="548640" cy="548640"/>
          </a:xfrm>
          <a:prstGeom prst="ellipse">
            <a:avLst/>
          </a:prstGeom>
          <a:solidFill>
            <a:srgbClr val="1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69495" y="261518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PROVE &amp; APPLY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01984" y="324612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Independent validator (V1–V10) → hash-checked apply → audit chain</a:t>
            </a:r>
          </a:p>
        </p:txBody>
      </p:sp>
      <p:sp>
        <p:nvSpPr>
          <p:cNvPr id="39" name="Thesis panel"/>
          <p:cNvSpPr/>
          <p:nvPr/>
        </p:nvSpPr>
        <p:spPr>
          <a:xfrm>
            <a:off x="640080" y="4983480"/>
            <a:ext cx="5989320" cy="411480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19379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OUR DESIGN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96128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planner may be wrong.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validator cannot be fooled.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AI never touches a platform.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7406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BUILT FOR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7818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Station master / Dy. 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0" y="7818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Section controller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83850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Divisional control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83850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2B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Admin / audit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5010912"/>
            <a:ext cx="6574536" cy="35867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compa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7728" y="5074920"/>
            <a:ext cx="6446520" cy="345876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67728" y="8707421"/>
            <a:ext cx="6446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ED8076"/>
                </a:solidFill>
                <a:latin typeface="Calibri"/>
              </a:rPr>
              <a:t>Live, S2: </a:t>
            </a:r>
            <a:r>
              <a:rPr sz="1400" b="0" i="0">
                <a:solidFill>
                  <a:srgbClr val="172243"/>
                </a:solidFill>
                <a:latin typeface="Calibri"/>
              </a:rPr>
              <a:t>11209 runs 30 min late + PF 3 shut → 3 of 30 trains move; all 3 revisions independently VALID.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640080" y="169164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1819656"/>
            <a:ext cx="819302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OPERATOR UI  ·  React 19 +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203704"/>
            <a:ext cx="8193024" cy="5760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Gantt truth view · 3D / 2D station · compare &amp; apply · reason cards · EN · हिं · मर · phone / tablet /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90672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218688"/>
            <a:ext cx="819302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API  ·  FastAPI + Pydantic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02736"/>
            <a:ext cx="8193024" cy="5760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Roles &amp; Argon2id sessions · CSP + Origin checks · every action and refusal written to the audit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5875">
            <a:solidFill>
              <a:srgbClr val="7F5E87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617720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AI BRANCH  (advisory)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001768"/>
            <a:ext cx="2295144" cy="1947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Ollama qwen2.5:3b, local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Whisper small for radio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Regex + template fallback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Numbers must appear in the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 w="15875">
            <a:solidFill>
              <a:srgbClr val="323F9D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5" y="4617720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5001768"/>
            <a:ext cx="2295144" cy="1947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OR-Tools CP-SAT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Lexicographic objective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Replans the affected set only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Greedy baseline to compare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4489704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5875">
            <a:solidFill>
              <a:srgbClr val="1E9E62"/>
            </a:solidFill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9128" y="4617720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VALIDATOR  (independent)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5001768"/>
            <a:ext cx="2295144" cy="1947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Sweep line, V1–V10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Imports only the data models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Reports every violating pair</a:t>
            </a:r>
          </a:p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Sole source of VALID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346704" y="5577840"/>
            <a:ext cx="219456" cy="347472"/>
          </a:xfrm>
          <a:prstGeom prst="rightArrow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6300216" y="5577840"/>
            <a:ext cx="219456" cy="347472"/>
          </a:xfrm>
          <a:prstGeom prst="rightArrow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708660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7F5E87"/>
                </a:solidFill>
                <a:latin typeface="Calibri"/>
              </a:rPr>
              <a:t>proposals → human confirm → plan → prove → apply  (AI output can never express a platform assignment)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75895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7717536"/>
            <a:ext cx="8193024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Arial Narrow"/>
              </a:rPr>
              <a:t>STORAGE  ·  SQLite (WAL)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8101584"/>
            <a:ext cx="8193024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Immutable revisions · SHA-256 hash-chained audit log · apply = hash match + re-validate + one transaction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7373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ED8076"/>
                </a:solidFill>
                <a:latin typeface="Arial Narrow"/>
              </a:rPr>
              <a:t>HOW IT DECIDES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2212848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8" y="234086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One occupancy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2715768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A train holds its platform for [arrival, departure + min gap).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785615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93808" y="3913631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Strict priorities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4288536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First: no train left unplaced. Then the controller's goal: least delay or fewest changes.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358383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93808" y="548639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Touch only what broke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5861303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Replan the affected trains; widen the set only when forced.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6931152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93808" y="70591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172243"/>
                </a:solidFill>
                <a:latin typeface="Calibri"/>
              </a:rPr>
              <a:t>Nothing unproven ships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7434072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B6275"/>
                </a:solidFill>
                <a:latin typeface="Calibri"/>
              </a:rPr>
              <a:t>A plan that fails validation cannot be applied — the button is locked.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8915400"/>
            <a:ext cx="138531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Python 3.12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53412" y="891540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FastAPI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OR-Tools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43984" y="89154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SQLite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31536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React 19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29400" y="8915400"/>
            <a:ext cx="1069848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Three.js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27264" y="89154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Ollama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14816" y="8915400"/>
            <a:ext cx="1700784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faster-whisper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43616" y="8915400"/>
            <a:ext cx="2226564" cy="420624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pytest + Hypothesis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HOW THE VALIDATOR WORKS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40080" y="1664208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172243"/>
                </a:solidFill>
                <a:latin typeface="Calibri"/>
              </a:rPr>
              <a:t>A separate checker re-proves every plan from scratch </a:t>
            </a:r>
            <a:r>
              <a:rPr sz="2200" b="1" i="0">
                <a:solidFill>
                  <a:srgbClr val="323F9D"/>
                </a:solidFill>
                <a:latin typeface="Calibri"/>
              </a:rPr>
              <a:t>— with a different algorithm from the planner.</a:t>
            </a:r>
          </a:p>
        </p:txBody>
      </p:sp>
      <p:sp>
        <p:nvSpPr>
          <p:cNvPr id="15" name="Sweep card"/>
          <p:cNvSpPr/>
          <p:nvPr/>
        </p:nvSpPr>
        <p:spPr>
          <a:xfrm>
            <a:off x="640080" y="237744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487168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THE SWEEP LINE, ON THE REAL S3 CONFLICTS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72056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6296" y="2926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13:40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59480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93720" y="2926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46904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81144" y="2926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34328" y="3200400"/>
            <a:ext cx="0" cy="2057400"/>
          </a:xfrm>
          <a:prstGeom prst="line">
            <a:avLst/>
          </a:prstGeom>
          <a:ln w="12700">
            <a:solidFill>
              <a:srgbClr val="E3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68567" y="2926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 i="0">
                <a:solidFill>
                  <a:srgbClr val="5B6275"/>
                </a:solidFill>
                <a:latin typeface="Calibri"/>
              </a:rPr>
              <a:t>14:40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1012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72243"/>
                </a:solidFill>
                <a:latin typeface="Arial Narrow"/>
              </a:rPr>
              <a:t>PF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72056" y="3246120"/>
            <a:ext cx="1115567" cy="329184"/>
          </a:xfrm>
          <a:prstGeom prst="roundRect">
            <a:avLst>
              <a:gd name="adj" fmla="val 15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11214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87624" y="3246120"/>
            <a:ext cx="371856" cy="329184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10737" y="3657600"/>
            <a:ext cx="743711" cy="329184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11216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1934" y="3273552"/>
            <a:ext cx="2971800" cy="7772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D64545"/>
                </a:solidFill>
                <a:latin typeface="Calibri"/>
              </a:rPr>
              <a:t>GAP_VIOLATION</a:t>
            </a:r>
          </a:p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clearance short by 2 min (55 + 5 − 58)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0740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72243"/>
                </a:solidFill>
                <a:latin typeface="Arial Narrow"/>
              </a:rPr>
              <a:t>PF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8760" y="4343400"/>
            <a:ext cx="1115567" cy="329184"/>
          </a:xfrm>
          <a:prstGeom prst="roundRect">
            <a:avLst>
              <a:gd name="adj" fmla="val 15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51214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4328" y="4343400"/>
            <a:ext cx="371855" cy="329184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062472" y="4754880"/>
            <a:ext cx="743711" cy="329184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51215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370832"/>
            <a:ext cx="3569817" cy="7772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D64545"/>
                </a:solidFill>
                <a:latin typeface="Calibri"/>
              </a:rPr>
              <a:t>OVERLAP</a:t>
            </a:r>
          </a:p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both at the platform 5 min · 10 min of reserved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513832"/>
            <a:ext cx="274320" cy="182880"/>
          </a:xfrm>
          <a:prstGeom prst="rect">
            <a:avLst/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16152" y="5440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5B6275"/>
                </a:solidFill>
                <a:latin typeface="Calibri"/>
              </a:rPr>
              <a:t>occupied [arr, dep)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5513832"/>
            <a:ext cx="274320" cy="182880"/>
          </a:xfrm>
          <a:prstGeom prst="rect">
            <a:avLst/>
          </a:prstGeom>
          <a:pattFill prst="wdUpDiag">
            <a:fgClr>
              <a:srgbClr val="ED8076"/>
            </a:fgClr>
            <a:bgClr>
              <a:srgbClr val="FCE9E6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93592" y="5440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5B6275"/>
                </a:solidFill>
                <a:latin typeface="Calibri"/>
              </a:rPr>
              <a:t>5-min clearance → reserved [arr, dep + gap)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83387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323F9D"/>
                </a:solidFill>
                <a:latin typeface="Calibri"/>
              </a:rPr>
              <a:t>Same answers as the station's own Excel answer key — found automatically.</a:t>
            </a:r>
          </a:p>
        </p:txBody>
      </p:sp>
      <p:sp>
        <p:nvSpPr>
          <p:cNvPr id="40" name="Algorithm card"/>
          <p:cNvSpPr/>
          <p:nvPr/>
        </p:nvSpPr>
        <p:spPr>
          <a:xfrm>
            <a:off x="640080" y="6583680"/>
            <a:ext cx="6812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6693408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THE ALGORITHM, PER PLATFORM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" y="7168896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715060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Turn every assigned train into an interval [arr, dep + gap).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" y="7607808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7589520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Sort by arrival — O(n log n).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" y="8046720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8028432"/>
            <a:ext cx="59436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Sweep: compare each train with the ones after it; stop at the first arrival ≥ dep + gap. Every clashing pair is reported, not just neighbours.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8759952"/>
            <a:ext cx="329184" cy="329184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8741664"/>
            <a:ext cx="59436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72243"/>
                </a:solidFill>
                <a:latin typeface="Calibri"/>
              </a:rPr>
              <a:t>Measure in minutes: stay = min(dep A, dep B) − arr B; reserved = min(dep A, dep B) + gap − arr B; shortfall = dep A + gap − arr B.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2395728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TEN RULES, CHECKED ON EVERY PLAN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79" y="285292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836407" y="298094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19" y="289864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Every timetable train exactly once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79" y="358444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836407" y="3712463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363016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The platform exists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26679" y="431596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836407" y="444398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19" y="436168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Required / allowed platform kept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79" y="504748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7836407" y="517550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19" y="509320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Stay = dwell + departure delay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26679" y="577900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836407" y="590702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19" y="582472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Never earlier than the delay allows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52759" y="285292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762487" y="298094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29999" y="289864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Hold within the 45-min limit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52759" y="358444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0762487" y="3712463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29999" y="363016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Departed or berthed trains stay put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52759" y="431596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0762487" y="444398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29999" y="436168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overlap, clearance kept (sweep)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52759" y="504748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17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0762487" y="517550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29999" y="509320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train inside a closure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652759" y="5779008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762487" y="590702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300" b="1">
                <a:solidFill>
                  <a:srgbClr val="172243"/>
                </a:solidFill>
                <a:latin typeface="Calibri"/>
              </a:rPr>
              <a:t>V10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29999" y="5824728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72243"/>
                </a:solidFill>
                <a:latin typeface="Calibri"/>
              </a:rPr>
              <a:t>Coaches / wagons fit the platform</a:t>
            </a:r>
          </a:p>
        </p:txBody>
      </p:sp>
      <p:sp>
        <p:nvSpPr>
          <p:cNvPr id="81" name="Independence"/>
          <p:cNvSpPr/>
          <p:nvPr/>
        </p:nvSpPr>
        <p:spPr>
          <a:xfrm>
            <a:off x="7726679" y="6583680"/>
            <a:ext cx="5760720" cy="310896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001000" y="6711696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ED8076"/>
                </a:solidFill>
                <a:latin typeface="Arial Narrow"/>
              </a:rPr>
              <a:t>WHY IT CANNOT BE FOOLED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7150608"/>
            <a:ext cx="534924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Imports only the data models and Python's standard library — a test fails the build if that changes.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Different algorithm from the planner: a sweep line, not CP-SAT constraints.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only source of the VALID badge; re-run on the hashed plan at Apply.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D8076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Proven: 400 / 400 random plans checked; every injected planner fault caught (S5).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640080" y="178308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1892807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137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automated backend tests,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all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78308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892807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400 / 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8036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random disruption cases —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every plan proven valid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330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ED8076"/>
                </a:solidFill>
                <a:latin typeface="Arial Narrow"/>
              </a:rPr>
              <a:t>9 /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wrong AI readings caught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before reaching 'ready'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0233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41330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1E9E62"/>
                </a:solidFill>
                <a:latin typeface="Arial Narrow"/>
              </a:rPr>
              <a:t>₹0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2064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cloud cost · runs offline on</a:t>
            </a:r>
          </a:p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one laptop, no GPU</a:t>
            </a:r>
          </a:p>
        </p:txBody>
      </p:sp>
      <p:sp>
        <p:nvSpPr>
          <p:cNvPr id="26" name="Bench card"/>
          <p:cNvSpPr/>
          <p:nvPr/>
        </p:nvSpPr>
        <p:spPr>
          <a:xfrm>
            <a:off x="7269480" y="1783080"/>
            <a:ext cx="62179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1901952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72243"/>
                </a:solidFill>
                <a:latin typeface="Arial Narrow"/>
              </a:rPr>
              <a:t>OPTIMISER vs GREEDY  ·  20 seeded peak-hour scenarios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406640" y="2377440"/>
          <a:ext cx="2880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10469880" y="2377440"/>
          <a:ext cx="2880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40080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64922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323F9D"/>
                </a:solidFill>
                <a:latin typeface="Calibri"/>
              </a:rPr>
              <a:t>Deployable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931152"/>
            <a:ext cx="370332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One laptop, fully offline. Judges' and staff phones join over the hotspot — no cloud, no GPU.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6048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84648" y="64922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323F9D"/>
                </a:solidFill>
                <a:latin typeface="Calibri"/>
              </a:rPr>
              <a:t>Fits how stations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6931152"/>
            <a:ext cx="370332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Imports the working-timetable Excel; any station via template, JSON or typed in by hand.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5" y="6355080"/>
            <a:ext cx="4114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0615" y="64922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7F5E87"/>
                </a:solidFill>
                <a:latin typeface="Calibri"/>
              </a:rPr>
              <a:t>Honest next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5" y="6931152"/>
            <a:ext cx="370332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Route conflicts in the station throat (designed, measured), past-midnight trains, multi-station.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8321040"/>
            <a:ext cx="1243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72243"/>
                </a:solidFill>
                <a:latin typeface="Calibri"/>
              </a:rPr>
              <a:t>AI parser accuracy: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LLM 44/52 exact vs regex 36/52 on labelled messages; </a:t>
            </a:r>
            <a:r>
              <a:rPr sz="1500" b="0" i="0">
                <a:solidFill>
                  <a:srgbClr val="4E4A76"/>
                </a:solidFill>
                <a:latin typeface="Calibri"/>
              </a:rPr>
              <a:t>when Ollama is off, RailFlow falls back to regex + templates and still plans.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640080" y="1737360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323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01952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40864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From minutes of phone calls to a checked replan in seconds — every move arrives with its reason, ready to announce.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01568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767328"/>
            <a:ext cx="731520" cy="731520"/>
          </a:xfrm>
          <a:prstGeom prst="ellipse">
            <a:avLst/>
          </a:prstGeom>
          <a:solidFill>
            <a:srgbClr val="ED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661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Passengers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05072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Option B keeps platform changes to a minimum: fewer last-minute dashes across foot-over-bridges.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65776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5431536"/>
            <a:ext cx="731520" cy="731520"/>
          </a:xfrm>
          <a:prstGeom prst="ellipse">
            <a:avLst/>
          </a:prstGeom>
          <a:solidFill>
            <a:srgbClr val="7F5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Railway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Every confirm, plan, apply and refusal sits in a tamper-evident audit chain; admins audit, controllers 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729983"/>
            <a:ext cx="7315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8680" y="7095744"/>
            <a:ext cx="731520" cy="731520"/>
          </a:xfrm>
          <a:prstGeom prst="ellipse">
            <a:avLst/>
          </a:prstGeom>
          <a:solidFill>
            <a:srgbClr val="1E9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Narrow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894575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172243"/>
                </a:solidFill>
                <a:latin typeface="Calibri"/>
              </a:rPr>
              <a:t>Safety &amp;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7333488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5B6275"/>
                </a:solidFill>
                <a:latin typeface="Calibri"/>
              </a:rPr>
              <a:t>No plan reaches a platform unless an independent validator proved it conflict-free.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1719072"/>
            <a:ext cx="5111496" cy="42874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rea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1783080"/>
            <a:ext cx="4983480" cy="41594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58200" y="6116256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Calibri"/>
              </a:rPr>
              <a:t>Every change explains itself: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cause, chain and checks.</a:t>
            </a:r>
          </a:p>
        </p:txBody>
      </p:sp>
      <p:sp>
        <p:nvSpPr>
          <p:cNvPr id="33" name="Tradeoff"/>
          <p:cNvSpPr/>
          <p:nvPr/>
        </p:nvSpPr>
        <p:spPr>
          <a:xfrm>
            <a:off x="8458200" y="6783768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69209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ED8076"/>
                </a:solidFill>
                <a:latin typeface="Arial Narrow"/>
              </a:rPr>
              <a:t>S8 · THE CONTROLLER CHOOSES, INFORMED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7332408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Narrow"/>
              </a:rPr>
              <a:t>A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2 moves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weighted delay 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7332408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 i="0">
                <a:solidFill>
                  <a:srgbClr val="ED8076"/>
                </a:solidFill>
                <a:latin typeface="Arial Narrow"/>
              </a:rPr>
              <a:t>B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 move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weighted delay 136</a:t>
            </a:r>
          </a:p>
        </p:txBody>
      </p:sp>
      <p:sp>
        <p:nvSpPr>
          <p:cNvPr id="37" name="Scale band"/>
          <p:cNvSpPr/>
          <p:nvPr/>
        </p:nvSpPr>
        <p:spPr>
          <a:xfrm>
            <a:off x="640080" y="8549640"/>
            <a:ext cx="7315200" cy="1143000"/>
          </a:xfrm>
          <a:prstGeom prst="roundRect">
            <a:avLst>
              <a:gd name="adj" fmla="val 8000"/>
            </a:avLst>
          </a:prstGeom>
          <a:solidFill>
            <a:srgbClr val="E9E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8659368"/>
            <a:ext cx="69494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 i="0">
                <a:solidFill>
                  <a:srgbClr val="323F9D"/>
                </a:solidFill>
                <a:latin typeface="Calibri"/>
              </a:rPr>
              <a:t>Beyond the demo: </a:t>
            </a:r>
            <a:r>
              <a:rPr sz="1500" b="0" i="0">
                <a:solidFill>
                  <a:srgbClr val="172243"/>
                </a:solidFill>
                <a:latin typeface="Calibri"/>
              </a:rPr>
              <a:t>any station via Excel / JSON template or manual entry · 3 languages · works on phone, tablet and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2920" y="201168"/>
            <a:ext cx="13350240" cy="91440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l"/>
            <a:r>
              <a:rPr lang="en-US" sz="6000" b="1" spc="150">
                <a:solidFill>
                  <a:srgbClr val="172243"/>
                </a:solidFill>
                <a:latin typeface="Arial Narrow"/>
                <a:ea typeface="Arial Narrow"/>
                <a:cs typeface="Arial Narrow"/>
                <a:sym typeface="Arial Narrow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4048" y="98755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Compare table"/>
          <p:cNvSpPr/>
          <p:nvPr/>
        </p:nvSpPr>
        <p:spPr>
          <a:xfrm>
            <a:off x="640080" y="1783080"/>
            <a:ext cx="8778240" cy="5934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94767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194767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 i="0">
                <a:solidFill>
                  <a:srgbClr val="172243"/>
                </a:solidFill>
                <a:latin typeface="Arial Narrow"/>
              </a:rPr>
              <a:t>Phone +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194767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 i="0">
                <a:solidFill>
                  <a:srgbClr val="172243"/>
                </a:solidFill>
                <a:latin typeface="Arial Narrow"/>
              </a:rPr>
              <a:t>Optimiser /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399" y="1856231"/>
            <a:ext cx="1508760" cy="5788152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19" y="194767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 i="0">
                <a:solidFill>
                  <a:srgbClr val="1E9E62"/>
                </a:solidFill>
                <a:latin typeface="Arial Narrow"/>
              </a:rPr>
              <a:t>RailFlow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2633472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660904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Finds every clash, with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66090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79" y="2660904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2660904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346704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374136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Moves only the affected trains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37413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374136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3374136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4059935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4087368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Independent proof each plan is valid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87368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79" y="408736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4087368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4773168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4800600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AI can never assign a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800600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5B6275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4800600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4800600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" y="5486400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513832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Explains why each train moved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513832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79" y="5513832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C98A1B"/>
                </a:solidFill>
                <a:latin typeface="Calibri"/>
              </a:rPr>
              <a:t>Partly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19" y="5513832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7240" y="6199631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7240" y="6227064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Voice · EN · हिं · मर · offline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6227064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6227064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19" y="6227064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7240" y="6912864"/>
            <a:ext cx="8503920" cy="0"/>
          </a:xfrm>
          <a:prstGeom prst="line">
            <a:avLst/>
          </a:prstGeom>
          <a:ln w="12700">
            <a:solidFill>
              <a:srgbClr val="EC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7240" y="6940296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72243"/>
                </a:solidFill>
                <a:latin typeface="Calibri"/>
              </a:rPr>
              <a:t>Tamper-evident audit trail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6940296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79" y="6940296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D64545"/>
                </a:solidFill>
                <a:latin typeface="Calibri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19" y="6940296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E9E62"/>
                </a:solidFill>
                <a:latin typeface="Calibri"/>
              </a:rPr>
              <a:t>Yes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57232" y="1764792"/>
            <a:ext cx="3374136" cy="40354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Picture 55" descr="fau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1828800"/>
            <a:ext cx="3246120" cy="39074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921240" y="5937447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D8076"/>
                </a:solidFill>
                <a:latin typeface="Calibri"/>
              </a:rPr>
              <a:t>Our boldest demo: </a:t>
            </a:r>
            <a:r>
              <a:rPr sz="1500" b="1" i="0">
                <a:solidFill>
                  <a:srgbClr val="172243"/>
                </a:solidFill>
                <a:latin typeface="Calibri"/>
              </a:rPr>
              <a:t>we break our own planner, live.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72243"/>
                </a:solidFill>
                <a:latin typeface="Calibri"/>
              </a:rPr>
              <a:t>The validator catches the overlap — NOT VALID, Apply locked. Trust is proven, not promised.</a:t>
            </a:r>
          </a:p>
        </p:txBody>
      </p:sp>
      <p:sp>
        <p:nvSpPr>
          <p:cNvPr id="58" name="Punchline"/>
          <p:cNvSpPr/>
          <p:nvPr/>
        </p:nvSpPr>
        <p:spPr>
          <a:xfrm>
            <a:off x="640080" y="8001000"/>
            <a:ext cx="12893040" cy="1691640"/>
          </a:xfrm>
          <a:prstGeom prst="roundRect">
            <a:avLst>
              <a:gd name="adj" fmla="val 8000"/>
            </a:avLst>
          </a:prstGeom>
          <a:solidFill>
            <a:srgbClr val="172243"/>
          </a:solidFill>
          <a:ln>
            <a:noFill/>
          </a:ln>
          <a:effectLst>
            <a:outerShdw blurRad="190500" dist="50800" dir="5400000" algn="t" rotWithShape="0">
              <a:srgbClr val="17224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8138160"/>
            <a:ext cx="12344400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We don't ask anyone to trust the AI or the optimiser. </a:t>
            </a:r>
            <a:r>
              <a:rPr sz="2200" b="1" i="0">
                <a:solidFill>
                  <a:srgbClr val="ED8076"/>
                </a:solidFill>
                <a:latin typeface="Calibri"/>
              </a:rPr>
              <a:t>Every plan is proven before it touches a platform — and the AI only listens and explains.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200400" y="3063240"/>
            <a:ext cx="11887200" cy="219456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Arial Narrow"/>
                <a:ea typeface="Arial Narrow"/>
                <a:cs typeface="Arial Narrow"/>
                <a:sym typeface="Arial Narrow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5029200" y="5806440"/>
            <a:ext cx="8229600" cy="82296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Arial Narrow"/>
                <a:ea typeface="Arial Narrow"/>
                <a:cs typeface="Arial Narrow"/>
                <a:sym typeface="Arial Narrow"/>
              </a:rPr>
              <a:t>VORTEXA 3.0  ·  </a:t>
            </a:r>
            <a:r>
              <a:rPr sz="5554" b="1">
                <a:solidFill>
                  <a:srgbClr val="ED8076"/>
                </a:solidFill>
                <a:latin typeface="Arial Narrow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4904720" y="4526280"/>
            <a:ext cx="3108960" cy="1463040"/>
          </a:xfrm>
          <a:prstGeom prst="rect">
            <a:avLst/>
          </a:prstGeom>
        </p:spPr>
        <p:txBody>
          <a:bodyPr wrap="none" lIns="0" tIns="0" rIns="0" bIns="0" rtlCol="0" anchor="t"/>
          <a:lstStyle/>
          <a:p>
            <a:pPr algn="ctr">
              <a:lnSpc>
                <a:spcPts val="6255"/>
              </a:lnSpc>
            </a:pPr>
            <a:r>
              <a:rPr lang="en-US" sz="4400">
                <a:solidFill>
                  <a:srgbClr val="ED8076"/>
                </a:solidFill>
                <a:latin typeface="Arial Narrow"/>
                <a:ea typeface="Arial Narrow"/>
                <a:cs typeface="Arial Narrow"/>
                <a:sym typeface="Arial Narrow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4400">
                <a:solidFill>
                  <a:srgbClr val="ED8076"/>
                </a:solidFill>
                <a:latin typeface="Arial Narrow"/>
                <a:ea typeface="Arial Narrow"/>
                <a:cs typeface="Arial Narrow"/>
                <a:sym typeface="Arial Narrow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1515</Words>
  <Application>Microsoft Office PowerPoint</Application>
  <PresentationFormat>Custom</PresentationFormat>
  <Paragraphs>247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Gurjas Gandhi</cp:lastModifiedBy>
  <cp:revision>1</cp:revision>
  <dcterms:created xsi:type="dcterms:W3CDTF">2006-08-16T00:00:00Z</dcterms:created>
  <dcterms:modified xsi:type="dcterms:W3CDTF">2026-10-11T14:29:47Z</dcterms:modified>
  <dc:identifier>DAHXr7I3BNw</dc:identifier>
</cp:coreProperties>
</file>